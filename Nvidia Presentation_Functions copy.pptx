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Lato" panose="020F0502020204030203" pitchFamily="34" charset="0"/>
      <p:regular r:id="rId19"/>
      <p:bold r:id="rId20"/>
      <p:italic r:id="rId21"/>
      <p:boldItalic r:id="rId22"/>
    </p:embeddedFont>
    <p:embeddedFont>
      <p:font typeface="Montserrat" pitchFamily="2"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Thin" panose="020F030202020403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3E1456-810C-4BC4-BACF-9C0A923D4350}">
  <a:tblStyle styleId="{B73E1456-810C-4BC4-BACF-9C0A923D435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4"/>
  </p:normalViewPr>
  <p:slideViewPr>
    <p:cSldViewPr snapToGrid="0">
      <p:cViewPr varScale="1">
        <p:scale>
          <a:sx n="145" d="100"/>
          <a:sy n="145" d="100"/>
        </p:scale>
        <p:origin x="5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lassdoor.com/Award/Best-Places-to-Work-LST_KQ0,19.htm"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sloanreview.mit.edu/culture500/faq#walk"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google.com/spreadsheets/d/1qmWhDgJHilctuD_QEdIpEe1KTZZTtm9i84jZ6EBrAF8/edit?gid=1447605533#gid=1447605533"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199c05fcf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199c05fcf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s&amp;p // earnings info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1b09608f5d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1b09608f5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Lato"/>
              <a:buChar char="-"/>
            </a:pPr>
            <a:r>
              <a:rPr lang="en" sz="1200">
                <a:solidFill>
                  <a:schemeClr val="dk1"/>
                </a:solidFill>
                <a:latin typeface="Times New Roman"/>
                <a:ea typeface="Times New Roman"/>
                <a:cs typeface="Times New Roman"/>
                <a:sym typeface="Times New Roman"/>
              </a:rPr>
              <a:t>Nvidia is</a:t>
            </a:r>
            <a:r>
              <a:rPr lang="en" sz="1200" b="1">
                <a:solidFill>
                  <a:schemeClr val="dk1"/>
                </a:solidFill>
                <a:latin typeface="Times New Roman"/>
                <a:ea typeface="Times New Roman"/>
                <a:cs typeface="Times New Roman"/>
                <a:sym typeface="Times New Roman"/>
              </a:rPr>
              <a:t> </a:t>
            </a:r>
            <a:r>
              <a:rPr lang="en" sz="1200">
                <a:solidFill>
                  <a:schemeClr val="dk1"/>
                </a:solidFill>
                <a:latin typeface="Times New Roman"/>
                <a:ea typeface="Times New Roman"/>
                <a:cs typeface="Times New Roman"/>
                <a:sym typeface="Times New Roman"/>
              </a:rPr>
              <a:t>a Leading global manufacturer of high-end Graphics Processing Units </a:t>
            </a:r>
            <a:r>
              <a:rPr lang="en" sz="1200">
                <a:solidFill>
                  <a:srgbClr val="FF0000"/>
                </a:solidFill>
                <a:latin typeface="Times New Roman"/>
                <a:ea typeface="Times New Roman"/>
                <a:cs typeface="Times New Roman"/>
                <a:sym typeface="Times New Roman"/>
              </a:rPr>
              <a:t>(i.e a very powerful computer chip that handles complex visuals and heavy workloads)</a:t>
            </a:r>
            <a:r>
              <a:rPr lang="en" sz="1200">
                <a:solidFill>
                  <a:schemeClr val="dk1"/>
                </a:solidFill>
                <a:latin typeface="Times New Roman"/>
                <a:ea typeface="Times New Roman"/>
                <a:cs typeface="Times New Roman"/>
                <a:sym typeface="Times New Roman"/>
              </a:rPr>
              <a:t> founded by Jensen Huang, </a:t>
            </a:r>
            <a:r>
              <a:rPr lang="en" sz="1200">
                <a:solidFill>
                  <a:schemeClr val="dk1"/>
                </a:solidFill>
                <a:highlight>
                  <a:schemeClr val="lt2"/>
                </a:highlight>
                <a:latin typeface="Times New Roman"/>
                <a:ea typeface="Times New Roman"/>
                <a:cs typeface="Times New Roman"/>
                <a:sym typeface="Times New Roman"/>
              </a:rPr>
              <a:t>Chris and Curtis Priem i</a:t>
            </a:r>
            <a:r>
              <a:rPr lang="en" sz="1200">
                <a:solidFill>
                  <a:schemeClr val="dk1"/>
                </a:solidFill>
                <a:latin typeface="Times New Roman"/>
                <a:ea typeface="Times New Roman"/>
                <a:cs typeface="Times New Roman"/>
                <a:sym typeface="Times New Roman"/>
              </a:rPr>
              <a:t>n 1993 as a result of Jensen’s love for gaming. NVIDIA is Latin for ‘Envy’.</a:t>
            </a:r>
            <a:r>
              <a:rPr lang="en" sz="1200">
                <a:solidFill>
                  <a:schemeClr val="dk1"/>
                </a:solidFill>
                <a:highlight>
                  <a:schemeClr val="lt2"/>
                </a:highlight>
                <a:latin typeface="Times New Roman"/>
                <a:ea typeface="Times New Roman"/>
                <a:cs typeface="Times New Roman"/>
                <a:sym typeface="Times New Roman"/>
              </a:rPr>
              <a:t> The founders aimed to convey a sense of </a:t>
            </a:r>
            <a:r>
              <a:rPr lang="en" sz="1200" b="1">
                <a:solidFill>
                  <a:schemeClr val="dk1"/>
                </a:solidFill>
                <a:highlight>
                  <a:schemeClr val="lt2"/>
                </a:highlight>
                <a:latin typeface="Times New Roman"/>
                <a:ea typeface="Times New Roman"/>
                <a:cs typeface="Times New Roman"/>
                <a:sym typeface="Times New Roman"/>
              </a:rPr>
              <a:t>dominance</a:t>
            </a:r>
            <a:r>
              <a:rPr lang="en" sz="1200">
                <a:solidFill>
                  <a:schemeClr val="dk1"/>
                </a:solidFill>
                <a:highlight>
                  <a:schemeClr val="lt2"/>
                </a:highlight>
                <a:latin typeface="Times New Roman"/>
                <a:ea typeface="Times New Roman"/>
                <a:cs typeface="Times New Roman"/>
                <a:sym typeface="Times New Roman"/>
              </a:rPr>
              <a:t> in the market, with competitors being envious of their advanced graphics technology</a:t>
            </a:r>
            <a:endParaRPr sz="1200">
              <a:solidFill>
                <a:schemeClr val="dk1"/>
              </a:solidFill>
              <a:highlight>
                <a:schemeClr val="lt2"/>
              </a:highlight>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Huang, the CEO of NVIDIA, is  known for his iconic Biker Jackets and Philanthropic Efforts </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Currently, as given on their website, NVIDIA has more than 31,000 employees in 36 countries</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NVIDIA is one of America’s best places to work, according to </a:t>
            </a:r>
            <a:r>
              <a:rPr lang="en" sz="1200" u="sng">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Glassdoor’s list of best employers for 2024</a:t>
            </a:r>
            <a:r>
              <a:rPr lang="en"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Their core values include Innovation, Speed &amp; Agility, Intellectual Honesty, Excellence, One Team. By ‘One team’ they mean that t</a:t>
            </a:r>
            <a:r>
              <a:rPr lang="en" sz="1200">
                <a:solidFill>
                  <a:schemeClr val="dk1"/>
                </a:solidFill>
                <a:highlight>
                  <a:srgbClr val="FFFFFF"/>
                </a:highlight>
                <a:latin typeface="Times New Roman"/>
                <a:ea typeface="Times New Roman"/>
                <a:cs typeface="Times New Roman"/>
                <a:sym typeface="Times New Roman"/>
              </a:rPr>
              <a:t>here's only one team at NVIDIA. That means no politics, no hierarchy. Reporting lines exist, but teams form around projects based on the skills that are required. </a:t>
            </a:r>
            <a:endParaRPr sz="1200">
              <a:solidFill>
                <a:schemeClr val="dk1"/>
              </a:solidFill>
              <a:highlight>
                <a:schemeClr val="lt2"/>
              </a:highlight>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Their Hiring Slogan very well sums up their culture which is NVIDIA is a place “Like No Place You’ve Ever Worked”.  The company doesn't fall back on policy, trends, or norms. If it’s the right thing to do for their employees–for their families, for the work–the company finds a way to make it happen with compassion and respect. For them, It’s a commitment to supporting their teams holistically, not just as employees, but as humans. The company encourages its employees to take care of themselves and their families so that they can bring their whole self to work to do the work that they love.</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We have given some examples on what NVIDIA’s employees have to say about the company’s culture. For instance, a Business Analyst, said that “It’s Fantastic, the #1 place in the world to work at’, Similarly, a Senior Software Engineer said ‘‘it has a Great pay, open internal culture, and skilled coworkers. </a:t>
            </a:r>
            <a:r>
              <a:rPr lang="en" sz="1200">
                <a:solidFill>
                  <a:srgbClr val="FF0000"/>
                </a:solidFill>
                <a:latin typeface="Times New Roman"/>
                <a:ea typeface="Times New Roman"/>
                <a:cs typeface="Times New Roman"/>
                <a:sym typeface="Times New Roman"/>
              </a:rPr>
              <a:t>Engineers are encouraged to contribute where there is intersection between skills and need’. </a:t>
            </a:r>
            <a:endParaRPr sz="1200">
              <a:solidFill>
                <a:srgbClr val="FF0000"/>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Also, MIT Sloan Management Review in collaboration with Glassdoor created a data-driven initiative called </a:t>
            </a:r>
            <a:r>
              <a:rPr lang="en" sz="1200" b="1">
                <a:solidFill>
                  <a:schemeClr val="dk1"/>
                </a:solidFill>
                <a:latin typeface="Times New Roman"/>
                <a:ea typeface="Times New Roman"/>
                <a:cs typeface="Times New Roman"/>
                <a:sym typeface="Times New Roman"/>
              </a:rPr>
              <a:t>Culture 500,</a:t>
            </a:r>
            <a:r>
              <a:rPr lang="en" sz="1200">
                <a:solidFill>
                  <a:schemeClr val="dk1"/>
                </a:solidFill>
                <a:latin typeface="Times New Roman"/>
                <a:ea typeface="Times New Roman"/>
                <a:cs typeface="Times New Roman"/>
                <a:sym typeface="Times New Roman"/>
              </a:rPr>
              <a:t> that evaluates the corporate culture of 500 of the largest and most influential companies in the United States. </a:t>
            </a:r>
            <a:r>
              <a:rPr lang="en" sz="1200">
                <a:solidFill>
                  <a:srgbClr val="FF0000"/>
                </a:solidFill>
                <a:latin typeface="Times New Roman"/>
                <a:ea typeface="Times New Roman"/>
                <a:cs typeface="Times New Roman"/>
                <a:sym typeface="Times New Roman"/>
              </a:rPr>
              <a:t>By analyzing employee reviews on Glassdoor, the survey provides insights into how employees perceive and experience their organization's culture.</a:t>
            </a:r>
            <a:r>
              <a:rPr lang="en" sz="1200">
                <a:solidFill>
                  <a:schemeClr val="dk1"/>
                </a:solidFill>
                <a:latin typeface="Times New Roman"/>
                <a:ea typeface="Times New Roman"/>
                <a:cs typeface="Times New Roman"/>
                <a:sym typeface="Times New Roman"/>
              </a:rPr>
              <a:t> According to this survey, Nvidia’s employees believe that the company ‘</a:t>
            </a:r>
            <a:r>
              <a:rPr lang="en" sz="1200" b="1">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walks the talk</a:t>
            </a:r>
            <a:r>
              <a:rPr lang="en" sz="1200" b="1">
                <a:solidFill>
                  <a:schemeClr val="dk1"/>
                </a:solidFill>
                <a:latin typeface="Times New Roman"/>
                <a:ea typeface="Times New Roman"/>
                <a:cs typeface="Times New Roman"/>
                <a:sym typeface="Times New Roman"/>
              </a:rPr>
              <a:t>’</a:t>
            </a:r>
            <a:r>
              <a:rPr lang="en" sz="1200">
                <a:solidFill>
                  <a:schemeClr val="dk1"/>
                </a:solidFill>
                <a:latin typeface="Times New Roman"/>
                <a:ea typeface="Times New Roman"/>
                <a:cs typeface="Times New Roman"/>
                <a:sym typeface="Times New Roman"/>
              </a:rPr>
              <a:t> when it comes to its core values. </a:t>
            </a:r>
            <a:r>
              <a:rPr lang="en" sz="1200">
                <a:solidFill>
                  <a:schemeClr val="dk1"/>
                </a:solidFill>
                <a:highlight>
                  <a:schemeClr val="lt2"/>
                </a:highlight>
                <a:latin typeface="Times New Roman"/>
                <a:ea typeface="Times New Roman"/>
                <a:cs typeface="Times New Roman"/>
                <a:sym typeface="Times New Roman"/>
              </a:rPr>
              <a:t>This is evident in initiatives like the NVIDIA Inception Program, which supports </a:t>
            </a:r>
            <a:r>
              <a:rPr lang="en" sz="1200" b="1">
                <a:solidFill>
                  <a:schemeClr val="dk1"/>
                </a:solidFill>
                <a:highlight>
                  <a:schemeClr val="lt2"/>
                </a:highlight>
                <a:latin typeface="Times New Roman"/>
                <a:ea typeface="Times New Roman"/>
                <a:cs typeface="Times New Roman"/>
                <a:sym typeface="Times New Roman"/>
              </a:rPr>
              <a:t>startups</a:t>
            </a:r>
            <a:r>
              <a:rPr lang="en" sz="1200">
                <a:solidFill>
                  <a:schemeClr val="dk1"/>
                </a:solidFill>
                <a:highlight>
                  <a:schemeClr val="lt2"/>
                </a:highlight>
                <a:latin typeface="Times New Roman"/>
                <a:ea typeface="Times New Roman"/>
                <a:cs typeface="Times New Roman"/>
                <a:sym typeface="Times New Roman"/>
              </a:rPr>
              <a:t> developing groundbreaking AI technologies by providing resources, mentorship, and exposure, hence promoting “Innovation”.</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Lato"/>
              <a:buChar char="-"/>
            </a:pPr>
            <a:r>
              <a:rPr lang="en" sz="1200" b="1">
                <a:solidFill>
                  <a:schemeClr val="dk1"/>
                </a:solidFill>
                <a:latin typeface="Times New Roman"/>
                <a:ea typeface="Times New Roman"/>
                <a:cs typeface="Times New Roman"/>
                <a:sym typeface="Times New Roman"/>
              </a:rPr>
              <a:t>Company’s mission statement</a:t>
            </a:r>
            <a:r>
              <a:rPr lang="en" sz="1200">
                <a:solidFill>
                  <a:schemeClr val="dk1"/>
                </a:solidFill>
                <a:latin typeface="Times New Roman"/>
                <a:ea typeface="Times New Roman"/>
                <a:cs typeface="Times New Roman"/>
                <a:sym typeface="Times New Roman"/>
              </a:rPr>
              <a:t> </a:t>
            </a:r>
            <a:r>
              <a:rPr lang="en" sz="1200" i="1">
                <a:solidFill>
                  <a:schemeClr val="dk1"/>
                </a:solidFill>
                <a:latin typeface="Times New Roman"/>
                <a:ea typeface="Times New Roman"/>
                <a:cs typeface="Times New Roman"/>
                <a:sym typeface="Times New Roman"/>
              </a:rPr>
              <a:t>is </a:t>
            </a:r>
            <a:r>
              <a:rPr lang="en" sz="1200">
                <a:solidFill>
                  <a:schemeClr val="dk1"/>
                </a:solidFill>
                <a:latin typeface="Times New Roman"/>
                <a:ea typeface="Times New Roman"/>
                <a:cs typeface="Times New Roman"/>
                <a:sym typeface="Times New Roman"/>
              </a:rPr>
              <a:t>“ We advance computing to tackle impactful challenges no other companies can and problems that are nearly impossible today. In doing so, we create future markets and a better tomorrow.” (A letter from Jensen, 2023)</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highlight>
                  <a:schemeClr val="lt2"/>
                </a:highlight>
                <a:latin typeface="Times New Roman"/>
                <a:ea typeface="Times New Roman"/>
                <a:cs typeface="Times New Roman"/>
                <a:sym typeface="Times New Roman"/>
              </a:rPr>
              <a:t>Nvidia has relied heavily on acquisitions to keep its place in the industry. The major acquisitions include Mellanox Technologies, Cumulus Networks, Bright Computing in 2022 and Run AI in 2024. Nvidia's proposal to acquire U.K.based semiconductor producer - Arm for $40 billion was terminated after the Federal Trade Commission blocked the deal, but it still holds a $147.3 million dollar stake in the company.</a:t>
            </a:r>
            <a:endParaRPr sz="1200">
              <a:solidFill>
                <a:schemeClr val="dk1"/>
              </a:solidFill>
              <a:highlight>
                <a:schemeClr val="lt2"/>
              </a:highlight>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highlight>
                  <a:schemeClr val="lt2"/>
                </a:highlight>
                <a:latin typeface="Times New Roman"/>
                <a:ea typeface="Times New Roman"/>
                <a:cs typeface="Times New Roman"/>
                <a:sym typeface="Times New Roman"/>
              </a:rPr>
              <a:t>Sabrina will no be discussing the Marketing Strategy for NVIDIA, over to you Sabrina!</a:t>
            </a:r>
            <a:br>
              <a:rPr lang="en" sz="1200">
                <a:solidFill>
                  <a:schemeClr val="dk1"/>
                </a:solidFill>
                <a:highlight>
                  <a:schemeClr val="lt2"/>
                </a:highlight>
                <a:latin typeface="Times New Roman"/>
                <a:ea typeface="Times New Roman"/>
                <a:cs typeface="Times New Roman"/>
                <a:sym typeface="Times New Roman"/>
              </a:rPr>
            </a:br>
            <a:endParaRPr sz="1200">
              <a:solidFill>
                <a:schemeClr val="dk1"/>
              </a:solidFill>
              <a:highlight>
                <a:schemeClr val="lt2"/>
              </a:highlight>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highlight>
                  <a:schemeClr val="lt2"/>
                </a:highlight>
                <a:latin typeface="Times New Roman"/>
                <a:ea typeface="Times New Roman"/>
                <a:cs typeface="Times New Roman"/>
                <a:sym typeface="Times New Roman"/>
              </a:rPr>
              <a:t>Share this ONLY IF Dr. Galit ASKS!! Example of How NVIDIA practices its core value- Innovation:</a:t>
            </a:r>
            <a:endParaRPr sz="1200" b="1">
              <a:solidFill>
                <a:schemeClr val="dk1"/>
              </a:solidFill>
              <a:highlight>
                <a:schemeClr val="lt2"/>
              </a:highlight>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a:solidFill>
                  <a:schemeClr val="dk1"/>
                </a:solidFill>
                <a:highlight>
                  <a:schemeClr val="lt2"/>
                </a:highlight>
                <a:latin typeface="Times New Roman"/>
                <a:ea typeface="Times New Roman"/>
                <a:cs typeface="Times New Roman"/>
                <a:sym typeface="Times New Roman"/>
              </a:rPr>
              <a:t>Innovation is the lifeblood of NVIDIA. The company fosters a culture where creativity and new ideas are not only welcomed but actively encouraged. NVIDIA’s open-door policy allows employees to share ideas directly with senior leadership, ensuring that innovation can come from anywhere within the organisation. This accessibility and encouragement create an environment where employees feel valued and empowered to think outside the box.</a:t>
            </a:r>
            <a:endParaRPr sz="1200">
              <a:solidFill>
                <a:schemeClr val="dk1"/>
              </a:solidFill>
              <a:highlight>
                <a:schemeClr val="lt2"/>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200">
              <a:solidFill>
                <a:schemeClr val="dk1"/>
              </a:solidFill>
              <a:highlight>
                <a:schemeClr val="lt2"/>
              </a:highlight>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3076698a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13076698a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1b09608f5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1b09608f5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600">
                <a:solidFill>
                  <a:schemeClr val="dk1"/>
                </a:solidFill>
                <a:latin typeface="Lato"/>
                <a:ea typeface="Lato"/>
                <a:cs typeface="Lato"/>
                <a:sym typeface="Lato"/>
              </a:rPr>
              <a:t>Targeting the high-end gaming and content creation market in North America, with a focus on the 18-35 age demographic</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13076698a8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13076698a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Presentation: “From the depths of technological evolution... emerges a beast unlike anything you've encountered before.</a:t>
            </a:r>
            <a:endParaRPr/>
          </a:p>
          <a:p>
            <a:pPr marL="0" lvl="0" indent="0" algn="l" rtl="0">
              <a:spcBef>
                <a:spcPts val="0"/>
              </a:spcBef>
              <a:spcAft>
                <a:spcPts val="0"/>
              </a:spcAft>
              <a:buNone/>
            </a:pPr>
            <a:r>
              <a:rPr lang="en"/>
              <a:t>The NVIDIA Blackwell GPU.</a:t>
            </a:r>
            <a:endParaRPr/>
          </a:p>
          <a:p>
            <a:pPr marL="0" lvl="0" indent="0" algn="l" rtl="0">
              <a:spcBef>
                <a:spcPts val="0"/>
              </a:spcBef>
              <a:spcAft>
                <a:spcPts val="0"/>
              </a:spcAft>
              <a:buNone/>
            </a:pPr>
            <a:r>
              <a:rPr lang="en"/>
              <a:t>Featuring the first TEE-I/O capable architecture, powered by 104 billion transistors, and forged with TSMC 4NP process technology. This isn't just an upgrade – it's a technological metamorphosis.</a:t>
            </a:r>
            <a:endParaRPr/>
          </a:p>
          <a:p>
            <a:pPr marL="0" lvl="0" indent="0" algn="l" rtl="0">
              <a:spcBef>
                <a:spcPts val="0"/>
              </a:spcBef>
              <a:spcAft>
                <a:spcPts val="0"/>
              </a:spcAft>
              <a:buNone/>
            </a:pPr>
            <a:r>
              <a:rPr lang="en"/>
              <a:t>With NVIDIA's High-Bandwidth Interface reaching 10TB/s, it doesn't just process – it dominates.</a:t>
            </a:r>
            <a:endParaRPr/>
          </a:p>
          <a:p>
            <a:pPr marL="0" lvl="0" indent="0" algn="l" rtl="0">
              <a:spcBef>
                <a:spcPts val="0"/>
              </a:spcBef>
              <a:spcAft>
                <a:spcPts val="0"/>
              </a:spcAft>
              <a:buNone/>
            </a:pPr>
            <a:r>
              <a:rPr lang="en"/>
              <a:t>In AI, no one can beat Blackwell's GPU.</a:t>
            </a:r>
            <a:endParaRPr/>
          </a:p>
          <a:p>
            <a:pPr marL="0" lvl="0" indent="0" algn="l" rtl="0">
              <a:spcBef>
                <a:spcPts val="0"/>
              </a:spcBef>
              <a:spcAft>
                <a:spcPts val="0"/>
              </a:spcAft>
              <a:buNone/>
            </a:pPr>
            <a:r>
              <a:rPr lang="en"/>
              <a:t>EVOLVE your gaming. NVIDIA Blackwell GPU – Unleash the Beast.”</a:t>
            </a:r>
            <a:endParaRPr/>
          </a:p>
          <a:p>
            <a:pPr marL="0" lvl="0" indent="0" algn="l" rtl="0">
              <a:spcBef>
                <a:spcPts val="0"/>
              </a:spcBef>
              <a:spcAft>
                <a:spcPts val="0"/>
              </a:spcAft>
              <a:buNone/>
            </a:pPr>
            <a:endParaRPr/>
          </a:p>
          <a:p>
            <a:pPr marL="0" lvl="0" indent="0" algn="l" rtl="0">
              <a:spcBef>
                <a:spcPts val="0"/>
              </a:spcBef>
              <a:spcAft>
                <a:spcPts val="0"/>
              </a:spcAft>
              <a:buNone/>
            </a:pPr>
            <a:r>
              <a:rPr lang="en"/>
              <a:t>The visual concept draws inspiration from the iconic Alien egg scene, reimagined with NVIDIA's signature elements. The GPU emerges from a biomechanical egg, dripping with the brand's characteristic green, symbolizing the birth of next-generation AI computing power.</a:t>
            </a:r>
            <a:endParaRPr/>
          </a:p>
          <a:p>
            <a:pPr marL="0" lvl="0" indent="0" algn="l" rtl="0">
              <a:spcBef>
                <a:spcPts val="0"/>
              </a:spcBef>
              <a:spcAft>
                <a:spcPts val="0"/>
              </a:spcAft>
              <a:buNone/>
            </a:pPr>
            <a:r>
              <a:rPr lang="en"/>
              <a:t>The main headline 'Unleash The Beast' connects directly with both gaming culture and the Alien franchise's essence. The subheading 'In AI, No One Can Beat Blackwell's GPU' cleverly plays on the famous Alien tagline while emphasizing our product's AI capabilities.</a:t>
            </a:r>
            <a:endParaRPr/>
          </a:p>
          <a:p>
            <a:pPr marL="0" lvl="0" indent="0" algn="l" rtl="0">
              <a:spcBef>
                <a:spcPts val="0"/>
              </a:spcBef>
              <a:spcAft>
                <a:spcPts val="0"/>
              </a:spcAft>
              <a:buNone/>
            </a:pPr>
            <a:r>
              <a:rPr lang="en"/>
              <a:t>The closing message 'EVOLVE your gaming' ties together the biological evolution theme of Alien with technological advancement, compelling our target audience to be part of the next evolution in computing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13076698a8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13076698a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br>
              <a:rPr lang="en" sz="1500" b="1">
                <a:solidFill>
                  <a:schemeClr val="dk1"/>
                </a:solidFill>
              </a:rPr>
            </a:br>
            <a:r>
              <a:rPr lang="en" sz="1500" b="1">
                <a:solidFill>
                  <a:schemeClr val="dk1"/>
                </a:solidFill>
              </a:rPr>
              <a:t>Looking at their balance sheet on the right </a:t>
            </a:r>
            <a:br>
              <a:rPr lang="en" sz="1500">
                <a:solidFill>
                  <a:schemeClr val="dk1"/>
                </a:solidFill>
              </a:rPr>
            </a:br>
            <a:r>
              <a:rPr lang="en" sz="1500">
                <a:solidFill>
                  <a:schemeClr val="dk1"/>
                </a:solidFill>
              </a:rPr>
              <a:t>1. Optimize inventory turnover: their inventory grew from 2B to 5B. Inventory worth 5B, </a:t>
            </a:r>
            <a:br>
              <a:rPr lang="en" sz="1500">
                <a:solidFill>
                  <a:schemeClr val="dk1"/>
                </a:solidFill>
              </a:rPr>
            </a:br>
            <a:r>
              <a:rPr lang="en" sz="1500" b="1">
                <a:solidFill>
                  <a:schemeClr val="dk1"/>
                </a:solidFill>
              </a:rPr>
              <a:t>Looking at liabilities: </a:t>
            </a:r>
            <a:endParaRPr sz="1500" b="1">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2. Note that there's introduction of short term debt, from 0 in 2022 to 1B, this should be monitored closely.</a:t>
            </a: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The liquidity ratio is 4.17, which means perhaps they can even leverage some more debt because they have a lot of cash.</a:t>
            </a:r>
            <a:br>
              <a:rPr lang="en" sz="1500">
                <a:solidFill>
                  <a:schemeClr val="dk1"/>
                </a:solidFill>
              </a:rPr>
            </a:br>
            <a:r>
              <a:rPr lang="en" sz="1500" b="1">
                <a:solidFill>
                  <a:schemeClr val="dk1"/>
                </a:solidFill>
              </a:rPr>
              <a:t>On the left you see the income statement:</a:t>
            </a:r>
            <a:endParaRPr sz="1500" b="1">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3. Revenue grew 4xs from 2022 to 2024, they should continue to invest in AI and cloud computing infrastructure, to sustain this growth trajectory.</a:t>
            </a: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4. Optimize cost of revenue, cost of revenue grew from 9.4B to 16.6B. They can explore ways to improve operational efficiency and supply chain cost to enhance gross margin</a:t>
            </a: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5. gaming revenue decline, Nvidia should analyze shifts in demand, especially in </a:t>
            </a:r>
            <a:r>
              <a:rPr lang="en" sz="1500" b="1">
                <a:solidFill>
                  <a:schemeClr val="dk1"/>
                </a:solidFill>
              </a:rPr>
              <a:t>gaming and professional visualization markets,</a:t>
            </a:r>
            <a:r>
              <a:rPr lang="en" sz="1500">
                <a:solidFill>
                  <a:schemeClr val="dk1"/>
                </a:solidFill>
              </a:rPr>
              <a:t> and consider innovative product offerings to regain growth. Which they are currently doing with blackwell chips </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Accounting Excel Chart</a:t>
            </a:r>
            <a:endParaRPr sz="1500">
              <a:solidFill>
                <a:schemeClr val="dk1"/>
              </a:solidFill>
            </a:endParaRPr>
          </a:p>
          <a:p>
            <a:pPr marL="0" lvl="0" indent="0" algn="l" rtl="0">
              <a:spcBef>
                <a:spcPts val="0"/>
              </a:spcBef>
              <a:spcAft>
                <a:spcPts val="0"/>
              </a:spcAft>
              <a:buClr>
                <a:schemeClr val="dk1"/>
              </a:buClr>
              <a:buSzPts val="1100"/>
              <a:buFont typeface="Arial"/>
              <a:buNone/>
            </a:pPr>
            <a:r>
              <a:rPr lang="en" sz="1500" u="sng">
                <a:solidFill>
                  <a:srgbClr val="0097A7"/>
                </a:solidFill>
                <a:hlinkClick r:id="rId3">
                  <a:extLst>
                    <a:ext uri="{A12FA001-AC4F-418D-AE19-62706E023703}">
                      <ahyp:hlinkClr xmlns:ahyp="http://schemas.microsoft.com/office/drawing/2018/hyperlinkcolor" val="tx"/>
                    </a:ext>
                  </a:extLst>
                </a:hlinkClick>
              </a:rPr>
              <a:t>https://docs.google.com/spreadsheets/d/1qmWhDgJHilctuD_QEdIpEe1KTZZTtm9i84jZ6EBrAF8/edit?gid=1447605533#gid=1447605533</a:t>
            </a:r>
            <a:endParaRPr sz="1500">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13076698a8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13076698a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13076698a8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13076698a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16060bf79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16060bf7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13076698a8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13076698a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Growth: </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We’ve seen over 190% of growth this year, Continuous R&amp;D Investment: NVIDIA’s massive investment in research and development—approximately $5.27 billion in 2022—ensures it stays ahead of the curve. Competitors struggle to match this level of sustained innovation.</a:t>
            </a:r>
            <a:br>
              <a:rPr lang="en">
                <a:solidFill>
                  <a:schemeClr val="dk1"/>
                </a:solidFill>
              </a:rPr>
            </a:br>
            <a:r>
              <a:rPr lang="en">
                <a:solidFill>
                  <a:schemeClr val="dk1"/>
                </a:solidFill>
              </a:rPr>
              <a:t>- Extensive focus on R&amp;D and rapid market expansion into industries like AI, Gaming, Data centers.</a:t>
            </a:r>
            <a:br>
              <a:rPr lang="en">
                <a:solidFill>
                  <a:schemeClr val="dk1"/>
                </a:solidFill>
              </a:rPr>
            </a:br>
            <a:r>
              <a:rPr lang="en">
                <a:solidFill>
                  <a:schemeClr val="dk1"/>
                </a:solidFill>
              </a:rPr>
              <a:t>- recently joined S&amp;P 500, however it’s PE ratio is still much higher than the average of 20-28 for S&amp;P companies at 66.59</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Based on beta of 3 given it’s great than 1, it’s considered high risk. Higher volatility compared to the market.</a:t>
            </a:r>
            <a:br>
              <a:rPr lang="en">
                <a:solidFill>
                  <a:schemeClr val="dk1"/>
                </a:solidFill>
              </a:rPr>
            </a:br>
            <a:r>
              <a:rPr lang="en">
                <a:solidFill>
                  <a:schemeClr val="dk1"/>
                </a:solidFill>
              </a:rPr>
              <a:t>- this could also be due to the market it is targeting, being ai, data center and gaming, there’s high demand and the market is still pretty new.</a:t>
            </a:r>
            <a:br>
              <a:rPr lang="en">
                <a:solidFill>
                  <a:schemeClr val="dk1"/>
                </a:solidFill>
              </a:rPr>
            </a:br>
            <a:r>
              <a:rPr lang="en">
                <a:solidFill>
                  <a:schemeClr val="dk1"/>
                </a:solidFill>
              </a:rPr>
              <a:t>- However, NVIDIA’s strong cash flow, leading position in AI and data centers, and well-diversified revenue streams provide some stability and a buffer against market fluctuations.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 Our recommendation is to Buy for long term growth oriented investors. </a:t>
            </a:r>
            <a:br>
              <a:rPr lang="en" b="1">
                <a:solidFill>
                  <a:schemeClr val="dk1"/>
                </a:solidFill>
              </a:rPr>
            </a:br>
            <a:r>
              <a:rPr lang="en" b="1">
                <a:solidFill>
                  <a:schemeClr val="dk1"/>
                </a:solidFill>
              </a:rPr>
              <a:t>- Especially if you believe in the blackwell chip product they are building, As well as the growth of Future AI</a:t>
            </a:r>
            <a:br>
              <a:rPr lang="en" b="1">
                <a:solidFill>
                  <a:schemeClr val="dk1"/>
                </a:solidFill>
              </a:rPr>
            </a:br>
            <a:r>
              <a:rPr lang="en" b="1">
                <a:solidFill>
                  <a:schemeClr val="dk1"/>
                </a:solidFill>
              </a:rPr>
              <a:t>- current development of blackwell chip is so advanced their competitors are severely lagging behind. </a:t>
            </a:r>
            <a:br>
              <a:rPr lang="en" b="1">
                <a:solidFill>
                  <a:schemeClr val="dk1"/>
                </a:solidFill>
              </a:rPr>
            </a:br>
            <a:r>
              <a:rPr lang="en" b="1">
                <a:solidFill>
                  <a:schemeClr val="dk1"/>
                </a:solidFill>
              </a:rPr>
              <a:t>- Investors should be comfortable with some volatility and fluctuation of the stock. But overall we see continued growth </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br>
              <a:rPr lang="en" b="1">
                <a:solidFill>
                  <a:schemeClr val="dk1"/>
                </a:solidFill>
              </a:rPr>
            </a:br>
            <a:br>
              <a:rPr lang="en" b="1">
                <a:solidFill>
                  <a:schemeClr val="dk1"/>
                </a:solidFill>
              </a:rPr>
            </a:br>
            <a:r>
              <a:rPr lang="en" b="1">
                <a:solidFill>
                  <a:schemeClr val="dk1"/>
                </a:solidFill>
              </a:rPr>
              <a:t>Growth vs. Value Classification: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NVIDIA is widely considered a growth company. This designation comes from its </a:t>
            </a:r>
            <a:r>
              <a:rPr lang="en" b="1">
                <a:solidFill>
                  <a:schemeClr val="dk1"/>
                </a:solidFill>
              </a:rPr>
              <a:t>extensive reinvestment into R&amp;D </a:t>
            </a:r>
            <a:r>
              <a:rPr lang="en">
                <a:solidFill>
                  <a:schemeClr val="dk1"/>
                </a:solidFill>
              </a:rPr>
              <a:t>and its leadership in</a:t>
            </a:r>
            <a:r>
              <a:rPr lang="en" b="1">
                <a:solidFill>
                  <a:schemeClr val="dk1"/>
                </a:solidFill>
              </a:rPr>
              <a:t> rapidly expanding industries like artificial intelligence (AI), gaming, and data centers. I</a:t>
            </a:r>
            <a:r>
              <a:rPr lang="en">
                <a:solidFill>
                  <a:schemeClr val="dk1"/>
                </a:solidFill>
              </a:rPr>
              <a:t>ts cutting-edge technology and innovative product lines are key drivers of revenue growth, making it attractive to growth-oriented investors looking for long-term capital appreciation. While NVIDIA’s recent profitability may lend some value characteristics in certain sectors, its high P/E ratio (currently at 36.7) underscores its growth-focused market perception, especially in comparison to the broader S&amp;P 500 P/E average of 20-28. Nvidia Recently joined s&amp;p 500. </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Risk Level:</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NVIDIA’s stock carries a medium-to-high risk level, reflecting its beta of 1.66. This beta indicates higher volatility than the overall market, suggesting that NVIDIA’s stock tends to experience larger price swings. The company’s reliance on demand from volatile markets, such as gaming, cryptocurrency mining, and AI, also contributes to this risk profile. However, NVIDIA’s strong cash flow, leading position in AI and data centers, and well-diversified revenue streams provide some stability and a buffer against market fluctuations.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Analyst Recommendation: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Given NVIDIA’s strong growth prospects, technological leadership, and promising revenue potential in high-demand sectors, a "BUY" recommendation is appropriate for long-term investors with a higher risk tolerance. The company’s innovation in AI and data centers, along with its recent profitability and cash flow generation, positions it well for continued success. However, the high valuation and stock volatility mean this recommendation is suited to those prepared for potential fluctuations. In the future, if competitive pressures increase or NVIDIA’s growth rate declines, a shift in strategy might be warranted, but the current outlook supports a buy stance for growth-focused investors.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1989c5a04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1989c5a04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 b="1"/>
            </a:br>
            <a:r>
              <a:rPr lang="en" b="1"/>
              <a:t>Product development: New product in existing market: </a:t>
            </a:r>
            <a:endParaRPr b="1"/>
          </a:p>
          <a:p>
            <a:pPr marL="0" lvl="0" indent="0" algn="l" rtl="0">
              <a:spcBef>
                <a:spcPts val="0"/>
              </a:spcBef>
              <a:spcAft>
                <a:spcPts val="0"/>
              </a:spcAft>
              <a:buNone/>
            </a:pPr>
            <a:r>
              <a:rPr lang="en"/>
              <a:t>NVIDIA’s significant R&amp;D investments position it as a leader in innovation, especially in cutting-edge markets like AI and autonomous vehicles. Product development aligns with NVIDIA’s innovation focus and long-term growth vision. This will also help them enter new markets with new products they continue to develop</a:t>
            </a:r>
            <a:endParaRPr/>
          </a:p>
          <a:p>
            <a:pPr marL="0" lvl="0" indent="0" algn="l" rtl="0">
              <a:spcBef>
                <a:spcPts val="0"/>
              </a:spcBef>
              <a:spcAft>
                <a:spcPts val="0"/>
              </a:spcAft>
              <a:buNone/>
            </a:pPr>
            <a:endParaRPr/>
          </a:p>
          <a:p>
            <a:pPr marL="0" lvl="0" indent="0" algn="l" rtl="0">
              <a:spcBef>
                <a:spcPts val="0"/>
              </a:spcBef>
              <a:spcAft>
                <a:spcPts val="0"/>
              </a:spcAft>
              <a:buNone/>
            </a:pPr>
            <a:r>
              <a:rPr lang="en" b="1"/>
              <a:t>Increase Existing Market Share with Current Products (Market Penetration)</a:t>
            </a:r>
            <a:endParaRPr b="1"/>
          </a:p>
          <a:p>
            <a:pPr marL="0" lvl="0" indent="0" algn="l" rtl="0">
              <a:spcBef>
                <a:spcPts val="0"/>
              </a:spcBef>
              <a:spcAft>
                <a:spcPts val="0"/>
              </a:spcAft>
              <a:buClr>
                <a:schemeClr val="dk1"/>
              </a:buClr>
              <a:buSzPts val="1100"/>
              <a:buFont typeface="Arial"/>
              <a:buNone/>
            </a:pPr>
            <a:r>
              <a:rPr lang="en"/>
              <a:t>NVIDIA already has a dominant position in core markets such as AI, gaming, and data centers.</a:t>
            </a:r>
            <a:endParaRPr/>
          </a:p>
          <a:p>
            <a:pPr marL="0" lvl="0" indent="0" algn="l" rtl="0">
              <a:spcBef>
                <a:spcPts val="0"/>
              </a:spcBef>
              <a:spcAft>
                <a:spcPts val="0"/>
              </a:spcAft>
              <a:buNone/>
            </a:pPr>
            <a:r>
              <a:rPr lang="en"/>
              <a:t>These markets are growing rapidly, particularly with the increasing adoption of AI in enterprise applications and the growing demand for gaming hardware globally. By increasing market share in these areas, NVIDIA can capitalize on its existing products without taking on the risks associated with new product development or new market entry.</a:t>
            </a:r>
            <a:br>
              <a:rPr lang="en"/>
            </a:br>
            <a:endParaRPr/>
          </a:p>
          <a:p>
            <a:pPr marL="0" lvl="0" indent="0" algn="l" rtl="0">
              <a:spcBef>
                <a:spcPts val="0"/>
              </a:spcBef>
              <a:spcAft>
                <a:spcPts val="0"/>
              </a:spcAft>
              <a:buClr>
                <a:schemeClr val="dk1"/>
              </a:buClr>
              <a:buSzPts val="1100"/>
              <a:buFont typeface="Arial"/>
              <a:buNone/>
            </a:pPr>
            <a:r>
              <a:rPr lang="en" b="1">
                <a:solidFill>
                  <a:schemeClr val="dk1"/>
                </a:solidFill>
              </a:rPr>
              <a:t>Diversification: could approach with M&amp;A, to capture market and product.</a:t>
            </a:r>
            <a:endParaRPr/>
          </a:p>
          <a:p>
            <a:pPr marL="0" lvl="0" indent="0" algn="l" rtl="0">
              <a:spcBef>
                <a:spcPts val="0"/>
              </a:spcBef>
              <a:spcAft>
                <a:spcPts val="0"/>
              </a:spcAft>
              <a:buNone/>
            </a:pPr>
            <a:endParaRPr b="1"/>
          </a:p>
          <a:p>
            <a:pPr marL="0" lvl="0" indent="0" algn="l" rtl="0">
              <a:spcBef>
                <a:spcPts val="0"/>
              </a:spcBef>
              <a:spcAft>
                <a:spcPts val="0"/>
              </a:spcAft>
              <a:buClr>
                <a:schemeClr val="dk1"/>
              </a:buClr>
              <a:buSzPts val="1100"/>
              <a:buFont typeface="Arial"/>
              <a:buNone/>
            </a:pPr>
            <a:r>
              <a:rPr lang="en" b="1">
                <a:solidFill>
                  <a:schemeClr val="dk1"/>
                </a:solidFill>
              </a:rPr>
              <a:t>Market Penetration</a:t>
            </a:r>
            <a:r>
              <a:rPr lang="en">
                <a:solidFill>
                  <a:schemeClr val="dk1"/>
                </a:solidFill>
              </a:rPr>
              <a:t> to increase its dominance in existing markets like AI, gaming, and data centers.</a:t>
            </a: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Product Development</a:t>
            </a:r>
            <a:r>
              <a:rPr lang="en">
                <a:solidFill>
                  <a:schemeClr val="dk1"/>
                </a:solidFill>
              </a:rPr>
              <a:t> to capitalize on emerging technologies and future-proof its position in fast-evolving industries like autonomous vehicles and quantum computing.</a:t>
            </a:r>
            <a:endParaRPr>
              <a:solidFill>
                <a:schemeClr val="dk1"/>
              </a:solidFill>
            </a:endParaRPr>
          </a:p>
          <a:p>
            <a:pPr marL="0" lvl="0" indent="0" algn="l" rtl="0">
              <a:spcBef>
                <a:spcPts val="0"/>
              </a:spcBef>
              <a:spcAft>
                <a:spcPts val="0"/>
              </a:spcAft>
              <a:buNone/>
            </a:pPr>
            <a:endParaRPr b="1"/>
          </a:p>
          <a:p>
            <a:pPr marL="0" lvl="0" indent="0" algn="l" rtl="0">
              <a:spcBef>
                <a:spcPts val="0"/>
              </a:spcBef>
              <a:spcAft>
                <a:spcPts val="0"/>
              </a:spcAft>
              <a:buNone/>
            </a:pPr>
            <a:endParaRPr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1b09608f5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1b09608f5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makes them special is their product and market they target, for them to continuously beat competitors in the product lifecycle curve. </a:t>
            </a:r>
            <a:endParaRPr/>
          </a:p>
          <a:p>
            <a:pPr marL="457200" lvl="0" indent="-298450" algn="l" rtl="0">
              <a:spcBef>
                <a:spcPts val="0"/>
              </a:spcBef>
              <a:spcAft>
                <a:spcPts val="0"/>
              </a:spcAft>
              <a:buSzPts val="1100"/>
              <a:buChar char="-"/>
            </a:pPr>
            <a:r>
              <a:rPr lang="en"/>
              <a:t>foresight positioned them as the go-to hardware provider for AI workloads. (as early as 2006) </a:t>
            </a:r>
            <a:endParaRPr/>
          </a:p>
          <a:p>
            <a:pPr marL="457200" lvl="0" indent="-298450" algn="l" rtl="0">
              <a:spcBef>
                <a:spcPts val="0"/>
              </a:spcBef>
              <a:spcAft>
                <a:spcPts val="0"/>
              </a:spcAft>
              <a:buSzPts val="1100"/>
              <a:buChar char="-"/>
            </a:pPr>
            <a:r>
              <a:rPr lang="en"/>
              <a:t>they also develop software ecosystems like CUDA and AI frameworks, which make it difficult for competitors to replicate their success. Their software and hardware integration creates a moat that ties developers and enterprises to their products.</a:t>
            </a:r>
            <a:endParaRPr/>
          </a:p>
          <a:p>
            <a:pPr marL="457200" lvl="0" indent="-298450" algn="l" rtl="0">
              <a:spcBef>
                <a:spcPts val="0"/>
              </a:spcBef>
              <a:spcAft>
                <a:spcPts val="0"/>
              </a:spcAft>
              <a:buSzPts val="1100"/>
              <a:buChar char="-"/>
            </a:pPr>
            <a:r>
              <a:rPr lang="en"/>
              <a:t>NVIDIA works closely with companies like TSMC for advanced semiconductor manufacturing and has strong partnerships with cloud providers like AWS, Google, and Microsoft.</a:t>
            </a:r>
            <a:endParaRPr/>
          </a:p>
          <a:p>
            <a:pPr marL="457200" lvl="0" indent="0" algn="l" rtl="0">
              <a:spcBef>
                <a:spcPts val="0"/>
              </a:spcBef>
              <a:spcAft>
                <a:spcPts val="0"/>
              </a:spcAft>
              <a:buNone/>
            </a:pPr>
            <a:br>
              <a:rPr lang="en"/>
            </a:br>
            <a:br>
              <a:rPr lang="en" b="1"/>
            </a:br>
            <a:br>
              <a:rPr lang="en" b="1"/>
            </a:br>
            <a:r>
              <a:rPr lang="en" b="1"/>
              <a:t>Product development: New product in existing market: </a:t>
            </a:r>
            <a:endParaRPr b="1"/>
          </a:p>
          <a:p>
            <a:pPr marL="0" lvl="0" indent="0" algn="l" rtl="0">
              <a:spcBef>
                <a:spcPts val="0"/>
              </a:spcBef>
              <a:spcAft>
                <a:spcPts val="0"/>
              </a:spcAft>
              <a:buNone/>
            </a:pPr>
            <a:r>
              <a:rPr lang="en"/>
              <a:t>NVIDIA’s significant R&amp;D investments position it as a leader in innovation, especially in cutting-edge markets like AI and autonomous vehicles. Product development aligns with NVIDIA’s innovation focus and long-term growth vision. This will also help them enter new markets with new products they continue to develop</a:t>
            </a:r>
            <a:endParaRPr/>
          </a:p>
          <a:p>
            <a:pPr marL="0" lvl="0" indent="0" algn="l" rtl="0">
              <a:spcBef>
                <a:spcPts val="0"/>
              </a:spcBef>
              <a:spcAft>
                <a:spcPts val="0"/>
              </a:spcAft>
              <a:buNone/>
            </a:pPr>
            <a:endParaRPr/>
          </a:p>
          <a:p>
            <a:pPr marL="0" lvl="0" indent="0" algn="l" rtl="0">
              <a:spcBef>
                <a:spcPts val="0"/>
              </a:spcBef>
              <a:spcAft>
                <a:spcPts val="0"/>
              </a:spcAft>
              <a:buNone/>
            </a:pPr>
            <a:r>
              <a:rPr lang="en" b="1"/>
              <a:t>Increase Existing Market Share with Current Products (Market Penetration)</a:t>
            </a:r>
            <a:endParaRPr b="1"/>
          </a:p>
          <a:p>
            <a:pPr marL="0" lvl="0" indent="0" algn="l" rtl="0">
              <a:spcBef>
                <a:spcPts val="0"/>
              </a:spcBef>
              <a:spcAft>
                <a:spcPts val="0"/>
              </a:spcAft>
              <a:buClr>
                <a:schemeClr val="dk1"/>
              </a:buClr>
              <a:buSzPts val="1100"/>
              <a:buFont typeface="Arial"/>
              <a:buNone/>
            </a:pPr>
            <a:r>
              <a:rPr lang="en"/>
              <a:t>NVIDIA already has a dominant position in core markets such as AI, gaming, and data centers.</a:t>
            </a:r>
            <a:endParaRPr/>
          </a:p>
          <a:p>
            <a:pPr marL="0" lvl="0" indent="0" algn="l" rtl="0">
              <a:spcBef>
                <a:spcPts val="0"/>
              </a:spcBef>
              <a:spcAft>
                <a:spcPts val="0"/>
              </a:spcAft>
              <a:buNone/>
            </a:pPr>
            <a:r>
              <a:rPr lang="en"/>
              <a:t>These markets are growing rapidly, particularly with the increasing adoption of AI in enterprise applications and the growing demand for gaming hardware globally. By increasing market share in these areas, NVIDIA can capitalize on its existing products without taking on the risks associated with new product development or new market entry.</a:t>
            </a:r>
            <a:br>
              <a:rPr lang="en"/>
            </a:br>
            <a:endParaRPr/>
          </a:p>
          <a:p>
            <a:pPr marL="0" lvl="0" indent="0" algn="l" rtl="0">
              <a:spcBef>
                <a:spcPts val="0"/>
              </a:spcBef>
              <a:spcAft>
                <a:spcPts val="0"/>
              </a:spcAft>
              <a:buClr>
                <a:schemeClr val="dk1"/>
              </a:buClr>
              <a:buSzPts val="1100"/>
              <a:buFont typeface="Arial"/>
              <a:buNone/>
            </a:pPr>
            <a:r>
              <a:rPr lang="en" b="1">
                <a:solidFill>
                  <a:schemeClr val="dk1"/>
                </a:solidFill>
              </a:rPr>
              <a:t>Diversification: could approach with M&amp;A, to capture market and product.</a:t>
            </a:r>
            <a:endParaRPr/>
          </a:p>
          <a:p>
            <a:pPr marL="0" lvl="0" indent="0" algn="l" rtl="0">
              <a:spcBef>
                <a:spcPts val="0"/>
              </a:spcBef>
              <a:spcAft>
                <a:spcPts val="0"/>
              </a:spcAft>
              <a:buNone/>
            </a:pPr>
            <a:endParaRPr b="1"/>
          </a:p>
          <a:p>
            <a:pPr marL="0" lvl="0" indent="0" algn="l" rtl="0">
              <a:spcBef>
                <a:spcPts val="0"/>
              </a:spcBef>
              <a:spcAft>
                <a:spcPts val="0"/>
              </a:spcAft>
              <a:buClr>
                <a:schemeClr val="dk1"/>
              </a:buClr>
              <a:buSzPts val="1100"/>
              <a:buFont typeface="Arial"/>
              <a:buNone/>
            </a:pPr>
            <a:r>
              <a:rPr lang="en" b="1">
                <a:solidFill>
                  <a:schemeClr val="dk1"/>
                </a:solidFill>
              </a:rPr>
              <a:t>Market Penetration</a:t>
            </a:r>
            <a:r>
              <a:rPr lang="en">
                <a:solidFill>
                  <a:schemeClr val="dk1"/>
                </a:solidFill>
              </a:rPr>
              <a:t> to increase its dominance in existing markets like AI, gaming, and data centers.</a:t>
            </a: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Product Development</a:t>
            </a:r>
            <a:r>
              <a:rPr lang="en">
                <a:solidFill>
                  <a:schemeClr val="dk1"/>
                </a:solidFill>
              </a:rPr>
              <a:t> to capitalize on emerging technologies and future-proof its position in fast-evolving industries like autonomous vehicles and quantum computing.</a:t>
            </a:r>
            <a:endParaRPr>
              <a:solidFill>
                <a:schemeClr val="dk1"/>
              </a:solidFill>
            </a:endParaRPr>
          </a:p>
          <a:p>
            <a:pPr marL="0" lvl="0" indent="0" algn="l" rtl="0">
              <a:spcBef>
                <a:spcPts val="0"/>
              </a:spcBef>
              <a:spcAft>
                <a:spcPts val="0"/>
              </a:spcAft>
              <a:buNone/>
            </a:pPr>
            <a:endParaRPr b="1"/>
          </a:p>
          <a:p>
            <a:pPr marL="0" lvl="0" indent="0" algn="l" rtl="0">
              <a:spcBef>
                <a:spcPts val="0"/>
              </a:spcBef>
              <a:spcAft>
                <a:spcPts val="0"/>
              </a:spcAft>
              <a:buNone/>
            </a:pPr>
            <a:endParaRPr b="1"/>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13076698a8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13076698a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Blackwell chips - Marketing to hyper /  ansoff &gt; product lifecycle S curve // Future blackwell chips // jumping product curve. Everytime they are reaching maturity, they improving, their performance is elevating rapidly. Quad in 2 years.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95071af11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195071af1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Blackwell chips - Marketing to hyperscalers /  ansoff &gt; product lifecycle S curve // Future blackwell chips // jumping product curve. Everytime they are reaching maturity, they improving, their performance is elevating rapidly. Quad to remain 2 years ahead of rivals. </a:t>
            </a:r>
            <a:br>
              <a:rPr lang="en">
                <a:solidFill>
                  <a:schemeClr val="dk1"/>
                </a:solidFill>
              </a:rPr>
            </a:br>
            <a:br>
              <a:rPr lang="en">
                <a:solidFill>
                  <a:schemeClr val="dk1"/>
                </a:solidFill>
              </a:rPr>
            </a:br>
            <a:r>
              <a:rPr lang="en">
                <a:solidFill>
                  <a:schemeClr val="dk1"/>
                </a:solidFill>
              </a:rPr>
              <a:t>Our recommendation for NVIDIA’s growth strategy aligns with the Ansoff Product-Market Matrix by focusing on both product development and market development. First, we suggest going 'all in' on new product development by iterating with Blackwell chips, ensuring they stay two years ahead of competitors in monopolistic competition (they have the cash to do this!)  This approach reinforces their leadership in high-performance computing through continuous innovation and customer-focused iteration. Second, we recommend expanding into new markets with AI services, offering fully integrated customer solutions that combine their cutting-edge hardware with tailored AI applications. This diversification not only opens new revenue streams in high-growth industries like healthcare and logistics but also strengthens NVIDIA’s position as a comprehensive leader in both hardware and AI-driven transformation."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Now I’ll turn it over to Sabrina to provide the macro backdrop</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flipH="1">
            <a:off x="4359300" y="4550"/>
            <a:ext cx="4784700"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rgbClr val="9E9E9E"/>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5" name="Google Shape;135;p13"/>
          <p:cNvPicPr preferRelativeResize="0"/>
          <p:nvPr/>
        </p:nvPicPr>
        <p:blipFill rotWithShape="1">
          <a:blip r:embed="rId3">
            <a:alphaModFix/>
          </a:blip>
          <a:srcRect t="31774" b="33243"/>
          <a:stretch/>
        </p:blipFill>
        <p:spPr>
          <a:xfrm>
            <a:off x="-31550" y="1418175"/>
            <a:ext cx="9207101" cy="1809100"/>
          </a:xfrm>
          <a:prstGeom prst="rect">
            <a:avLst/>
          </a:prstGeom>
          <a:noFill/>
          <a:ln>
            <a:noFill/>
          </a:ln>
        </p:spPr>
      </p:pic>
      <p:sp>
        <p:nvSpPr>
          <p:cNvPr id="3" name="Subtitle 2">
            <a:extLst>
              <a:ext uri="{FF2B5EF4-FFF2-40B4-BE49-F238E27FC236}">
                <a16:creationId xmlns:a16="http://schemas.microsoft.com/office/drawing/2014/main" id="{C11E58FB-5F7B-A8E5-EE76-0E7BA039092F}"/>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311700" y="0"/>
            <a:ext cx="8520600" cy="513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Company Background</a:t>
            </a:r>
            <a:endParaRPr/>
          </a:p>
        </p:txBody>
      </p:sp>
      <p:sp>
        <p:nvSpPr>
          <p:cNvPr id="141" name="Google Shape;141;p14"/>
          <p:cNvSpPr txBox="1">
            <a:spLocks noGrp="1"/>
          </p:cNvSpPr>
          <p:nvPr>
            <p:ph type="body" idx="1"/>
          </p:nvPr>
        </p:nvSpPr>
        <p:spPr>
          <a:xfrm>
            <a:off x="0" y="513300"/>
            <a:ext cx="8980200" cy="4605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Char char="-"/>
            </a:pPr>
            <a:r>
              <a:rPr lang="en" sz="1300" b="1">
                <a:solidFill>
                  <a:schemeClr val="dk1"/>
                </a:solidFill>
              </a:rPr>
              <a:t>Services</a:t>
            </a:r>
            <a:r>
              <a:rPr lang="en" sz="1300">
                <a:solidFill>
                  <a:schemeClr val="dk1"/>
                </a:solidFill>
              </a:rPr>
              <a:t>: Leading global manufacturer of high-end Graphics Processing Units</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Founder, Founding Year </a:t>
            </a:r>
            <a:r>
              <a:rPr lang="en" sz="1300">
                <a:solidFill>
                  <a:schemeClr val="dk1"/>
                </a:solidFill>
              </a:rPr>
              <a:t>: Jensen Huang, 1933 as a result of his love for gaming</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Interesting CEO facts </a:t>
            </a:r>
            <a:r>
              <a:rPr lang="en" sz="1300">
                <a:solidFill>
                  <a:schemeClr val="dk1"/>
                </a:solidFill>
              </a:rPr>
              <a:t>: Huang - CEO and founder, known for his iconic Biker Jackets, Philanthropic Efforts</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Name Origin</a:t>
            </a:r>
            <a:r>
              <a:rPr lang="en" sz="1300">
                <a:solidFill>
                  <a:schemeClr val="dk1"/>
                </a:solidFill>
              </a:rPr>
              <a:t> - NVIDIA, Latin for ‘Envy’</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Company’s Mergers and Acquisition in the last 10 years</a:t>
            </a:r>
            <a:r>
              <a:rPr lang="en" sz="1300">
                <a:solidFill>
                  <a:schemeClr val="dk1"/>
                </a:solidFill>
              </a:rPr>
              <a:t>- Mellanox Technologies (2019), Cumulus Networks (2020), ARM Holdings (2020), Excelero (2022)</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Company Size</a:t>
            </a:r>
            <a:r>
              <a:rPr lang="en" sz="1300">
                <a:solidFill>
                  <a:schemeClr val="dk1"/>
                </a:solidFill>
              </a:rPr>
              <a:t>: 31,000+ employees in 36 countries</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Company's Culture</a:t>
            </a:r>
            <a:r>
              <a:rPr lang="en" sz="1300">
                <a:solidFill>
                  <a:schemeClr val="dk1"/>
                </a:solidFill>
              </a:rPr>
              <a:t>: -</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No. 1 “World’s Most Innovative Companies” – </a:t>
            </a:r>
            <a:r>
              <a:rPr lang="en" sz="1300" i="1">
                <a:solidFill>
                  <a:schemeClr val="dk1"/>
                </a:solidFill>
              </a:rPr>
              <a:t>Fast Company </a:t>
            </a:r>
            <a:endParaRPr sz="1300" i="1">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“Best Places to Work in 2024” – </a:t>
            </a:r>
            <a:r>
              <a:rPr lang="en" sz="1300" i="1">
                <a:solidFill>
                  <a:schemeClr val="dk1"/>
                </a:solidFill>
              </a:rPr>
              <a:t>Glassdoor</a:t>
            </a:r>
            <a:endParaRPr sz="1300" i="1">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“Best CEO of 2023” – </a:t>
            </a:r>
            <a:r>
              <a:rPr lang="en" sz="1300" i="1">
                <a:solidFill>
                  <a:schemeClr val="dk1"/>
                </a:solidFill>
              </a:rPr>
              <a:t>The Economist </a:t>
            </a:r>
            <a:endParaRPr sz="1300" i="1">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Hiring Slogan</a:t>
            </a:r>
            <a:r>
              <a:rPr lang="en" sz="1300">
                <a:solidFill>
                  <a:schemeClr val="dk1"/>
                </a:solidFill>
              </a:rPr>
              <a:t>: “Like No Place You’ve Ever Worked” </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Employees take on Company’s Work Culture</a:t>
            </a:r>
            <a:r>
              <a:rPr lang="en" sz="1300">
                <a:solidFill>
                  <a:schemeClr val="dk1"/>
                </a:solidFill>
              </a:rPr>
              <a:t>:-</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‘Fantastic, the #1 place in the world to work at’ (Business Analyst, NVIDIA)</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‘‘G</a:t>
            </a:r>
            <a:r>
              <a:rPr lang="en" sz="1300">
                <a:solidFill>
                  <a:srgbClr val="20262E"/>
                </a:solidFill>
              </a:rPr>
              <a:t>reat pay, open internal culture, and skilled coworkers. Engineers are encouraged to contribute where there is intersection between skills and need’ (Senior Software Engineer, NVIDIA)</a:t>
            </a:r>
            <a:endParaRPr sz="1300">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Company’s mission statement</a:t>
            </a:r>
            <a:r>
              <a:rPr lang="en" sz="1300">
                <a:solidFill>
                  <a:schemeClr val="dk1"/>
                </a:solidFill>
              </a:rPr>
              <a:t> </a:t>
            </a:r>
            <a:r>
              <a:rPr lang="en" sz="1300" i="1">
                <a:solidFill>
                  <a:schemeClr val="dk1"/>
                </a:solidFill>
              </a:rPr>
              <a:t>: </a:t>
            </a:r>
            <a:r>
              <a:rPr lang="en" sz="1300">
                <a:solidFill>
                  <a:schemeClr val="dk1"/>
                </a:solidFill>
              </a:rPr>
              <a:t>“ We advance computing to tackle impactful challenges no other companies can and problems that are nearly impossible today. In doing so, we create future markets and a better tomorrow.” (A letter from Jensen, 2023)</a:t>
            </a:r>
            <a:endParaRPr sz="1300">
              <a:solidFill>
                <a:schemeClr val="dk1"/>
              </a:solidFill>
            </a:endParaRPr>
          </a:p>
          <a:p>
            <a:pPr marL="0" lvl="0" indent="0" algn="l" rtl="0">
              <a:spcBef>
                <a:spcPts val="0"/>
              </a:spcBef>
              <a:spcAft>
                <a:spcPts val="1200"/>
              </a:spcAft>
              <a:buNone/>
            </a:pPr>
            <a:endParaRPr sz="1300">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5"/>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t>Company Background</a:t>
            </a:r>
            <a:endParaRPr b="1"/>
          </a:p>
        </p:txBody>
      </p:sp>
      <p:sp>
        <p:nvSpPr>
          <p:cNvPr id="147" name="Google Shape;147;p15"/>
          <p:cNvSpPr txBox="1"/>
          <p:nvPr/>
        </p:nvSpPr>
        <p:spPr>
          <a:xfrm>
            <a:off x="82100" y="957150"/>
            <a:ext cx="4298400" cy="18594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457200" lvl="0" indent="-311150" algn="l" rtl="0">
              <a:lnSpc>
                <a:spcPct val="120000"/>
              </a:lnSpc>
              <a:spcBef>
                <a:spcPts val="0"/>
              </a:spcBef>
              <a:spcAft>
                <a:spcPts val="0"/>
              </a:spcAft>
              <a:buClr>
                <a:schemeClr val="dk1"/>
              </a:buClr>
              <a:buSzPts val="1300"/>
              <a:buFont typeface="Lato"/>
              <a:buChar char="●"/>
            </a:pPr>
            <a:r>
              <a:rPr lang="en" sz="1300" b="1">
                <a:solidFill>
                  <a:schemeClr val="dk1"/>
                </a:solidFill>
                <a:latin typeface="Lato"/>
                <a:ea typeface="Lato"/>
                <a:cs typeface="Lato"/>
                <a:sym typeface="Lato"/>
              </a:rPr>
              <a:t>Services</a:t>
            </a:r>
            <a:r>
              <a:rPr lang="en" sz="1300">
                <a:solidFill>
                  <a:schemeClr val="dk1"/>
                </a:solidFill>
                <a:latin typeface="Lato"/>
                <a:ea typeface="Lato"/>
                <a:cs typeface="Lato"/>
                <a:sym typeface="Lato"/>
              </a:rPr>
              <a:t>: Leading global manufacturer of high-end Graphics Processing Units</a:t>
            </a:r>
            <a:endParaRPr sz="1300">
              <a:solidFill>
                <a:schemeClr val="dk1"/>
              </a:solidFill>
              <a:latin typeface="Lato"/>
              <a:ea typeface="Lato"/>
              <a:cs typeface="Lato"/>
              <a:sym typeface="Lato"/>
            </a:endParaRPr>
          </a:p>
          <a:p>
            <a:pPr marL="457200" lvl="0" indent="-311150" algn="l" rtl="0">
              <a:lnSpc>
                <a:spcPct val="120000"/>
              </a:lnSpc>
              <a:spcBef>
                <a:spcPts val="0"/>
              </a:spcBef>
              <a:spcAft>
                <a:spcPts val="0"/>
              </a:spcAft>
              <a:buClr>
                <a:schemeClr val="dk1"/>
              </a:buClr>
              <a:buSzPts val="1300"/>
              <a:buFont typeface="Lato"/>
              <a:buChar char="●"/>
            </a:pPr>
            <a:r>
              <a:rPr lang="en" sz="1300" b="1">
                <a:solidFill>
                  <a:schemeClr val="dk1"/>
                </a:solidFill>
                <a:latin typeface="Lato"/>
                <a:ea typeface="Lato"/>
                <a:cs typeface="Lato"/>
                <a:sym typeface="Lato"/>
              </a:rPr>
              <a:t>Founders, Founding Year </a:t>
            </a:r>
            <a:r>
              <a:rPr lang="en" sz="1300">
                <a:solidFill>
                  <a:schemeClr val="dk1"/>
                </a:solidFill>
                <a:latin typeface="Lato"/>
                <a:ea typeface="Lato"/>
                <a:cs typeface="Lato"/>
                <a:sym typeface="Lato"/>
              </a:rPr>
              <a:t>: Jensen Huang , Chris Malchowsky,  Curtis Priem; 1993</a:t>
            </a:r>
            <a:endParaRPr sz="1300">
              <a:solidFill>
                <a:schemeClr val="dk1"/>
              </a:solidFill>
              <a:latin typeface="Lato"/>
              <a:ea typeface="Lato"/>
              <a:cs typeface="Lato"/>
              <a:sym typeface="Lato"/>
            </a:endParaRPr>
          </a:p>
          <a:p>
            <a:pPr marL="457200" lvl="0" indent="-311150" algn="l" rtl="0">
              <a:lnSpc>
                <a:spcPct val="120000"/>
              </a:lnSpc>
              <a:spcBef>
                <a:spcPts val="0"/>
              </a:spcBef>
              <a:spcAft>
                <a:spcPts val="0"/>
              </a:spcAft>
              <a:buClr>
                <a:schemeClr val="dk1"/>
              </a:buClr>
              <a:buSzPts val="1300"/>
              <a:buFont typeface="Lato"/>
              <a:buChar char="●"/>
            </a:pPr>
            <a:r>
              <a:rPr lang="en" sz="1300" b="1">
                <a:solidFill>
                  <a:schemeClr val="dk1"/>
                </a:solidFill>
                <a:latin typeface="Lato"/>
                <a:ea typeface="Lato"/>
                <a:cs typeface="Lato"/>
                <a:sym typeface="Lato"/>
              </a:rPr>
              <a:t>Company Size</a:t>
            </a:r>
            <a:r>
              <a:rPr lang="en" sz="1300">
                <a:solidFill>
                  <a:schemeClr val="dk1"/>
                </a:solidFill>
                <a:latin typeface="Lato"/>
                <a:ea typeface="Lato"/>
                <a:cs typeface="Lato"/>
                <a:sym typeface="Lato"/>
              </a:rPr>
              <a:t>: 31,000+ employees in 36 countries</a:t>
            </a:r>
            <a:endParaRPr sz="1300">
              <a:solidFill>
                <a:schemeClr val="dk1"/>
              </a:solidFill>
              <a:latin typeface="Lato"/>
              <a:ea typeface="Lato"/>
              <a:cs typeface="Lato"/>
              <a:sym typeface="Lato"/>
            </a:endParaRPr>
          </a:p>
          <a:p>
            <a:pPr marL="457200" lvl="0" indent="-3111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Huang - CEO,  known for his iconic Biker Jackets</a:t>
            </a:r>
            <a:endParaRPr sz="1300" i="1">
              <a:solidFill>
                <a:schemeClr val="dk1"/>
              </a:solidFill>
              <a:latin typeface="Lato"/>
              <a:ea typeface="Lato"/>
              <a:cs typeface="Lato"/>
              <a:sym typeface="Lato"/>
            </a:endParaRPr>
          </a:p>
          <a:p>
            <a:pPr marL="0" lvl="0" indent="0" algn="l" rtl="0">
              <a:lnSpc>
                <a:spcPct val="120000"/>
              </a:lnSpc>
              <a:spcBef>
                <a:spcPts val="1200"/>
              </a:spcBef>
              <a:spcAft>
                <a:spcPts val="0"/>
              </a:spcAft>
              <a:buNone/>
            </a:pPr>
            <a:endParaRPr sz="1300">
              <a:solidFill>
                <a:schemeClr val="dk1"/>
              </a:solidFill>
              <a:latin typeface="Lato"/>
              <a:ea typeface="Lato"/>
              <a:cs typeface="Lato"/>
              <a:sym typeface="Lato"/>
            </a:endParaRPr>
          </a:p>
        </p:txBody>
      </p:sp>
      <p:sp>
        <p:nvSpPr>
          <p:cNvPr id="148" name="Google Shape;148;p15"/>
          <p:cNvSpPr txBox="1"/>
          <p:nvPr/>
        </p:nvSpPr>
        <p:spPr>
          <a:xfrm>
            <a:off x="82100" y="498525"/>
            <a:ext cx="42978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KEY FACTS</a:t>
            </a:r>
            <a:endParaRPr sz="1300" b="1">
              <a:solidFill>
                <a:schemeClr val="lt1"/>
              </a:solidFill>
              <a:latin typeface="Lato"/>
              <a:ea typeface="Lato"/>
              <a:cs typeface="Lato"/>
              <a:sym typeface="Lato"/>
            </a:endParaRPr>
          </a:p>
        </p:txBody>
      </p:sp>
      <p:sp>
        <p:nvSpPr>
          <p:cNvPr id="149" name="Google Shape;149;p15"/>
          <p:cNvSpPr txBox="1"/>
          <p:nvPr/>
        </p:nvSpPr>
        <p:spPr>
          <a:xfrm>
            <a:off x="4771275" y="957150"/>
            <a:ext cx="4277100" cy="18594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“Best Places to Work in 2024” – </a:t>
            </a:r>
            <a:r>
              <a:rPr lang="en" sz="1200" i="1">
                <a:solidFill>
                  <a:schemeClr val="dk1"/>
                </a:solidFill>
                <a:latin typeface="Lato"/>
                <a:ea typeface="Lato"/>
                <a:cs typeface="Lato"/>
                <a:sym typeface="Lato"/>
              </a:rPr>
              <a:t>Glassdoor</a:t>
            </a:r>
            <a:endParaRPr sz="1200" i="1">
              <a:solidFill>
                <a:schemeClr val="dk1"/>
              </a:solidFill>
              <a:latin typeface="Lato"/>
              <a:ea typeface="Lato"/>
              <a:cs typeface="Lato"/>
              <a:sym typeface="Lato"/>
            </a:endParaRPr>
          </a:p>
          <a:p>
            <a:pPr marL="457200" lvl="0" indent="-304800" algn="l" rtl="0">
              <a:lnSpc>
                <a:spcPct val="120000"/>
              </a:lnSpc>
              <a:spcBef>
                <a:spcPts val="0"/>
              </a:spcBef>
              <a:spcAft>
                <a:spcPts val="0"/>
              </a:spcAft>
              <a:buClr>
                <a:schemeClr val="dk1"/>
              </a:buClr>
              <a:buSzPts val="1200"/>
              <a:buFont typeface="Lato"/>
              <a:buChar char="●"/>
            </a:pPr>
            <a:r>
              <a:rPr lang="en" sz="1200" b="1">
                <a:solidFill>
                  <a:schemeClr val="dk1"/>
                </a:solidFill>
                <a:latin typeface="Lato"/>
                <a:ea typeface="Lato"/>
                <a:cs typeface="Lato"/>
                <a:sym typeface="Lato"/>
              </a:rPr>
              <a:t>Core Values </a:t>
            </a:r>
            <a:r>
              <a:rPr lang="en" sz="1200">
                <a:solidFill>
                  <a:schemeClr val="dk1"/>
                </a:solidFill>
                <a:latin typeface="Lato"/>
                <a:ea typeface="Lato"/>
                <a:cs typeface="Lato"/>
                <a:sym typeface="Lato"/>
              </a:rPr>
              <a:t>:  Innovation, Speed &amp; Agility, Intellectual Honesty, Excellence, One Team </a:t>
            </a:r>
            <a:endParaRPr sz="1200">
              <a:solidFill>
                <a:schemeClr val="dk1"/>
              </a:solidFill>
              <a:latin typeface="Lato"/>
              <a:ea typeface="Lato"/>
              <a:cs typeface="Lato"/>
              <a:sym typeface="Lato"/>
            </a:endParaRPr>
          </a:p>
          <a:p>
            <a:pPr marL="457200" lvl="0" indent="-304800" algn="l" rtl="0">
              <a:lnSpc>
                <a:spcPct val="120000"/>
              </a:lnSpc>
              <a:spcBef>
                <a:spcPts val="0"/>
              </a:spcBef>
              <a:spcAft>
                <a:spcPts val="0"/>
              </a:spcAft>
              <a:buClr>
                <a:schemeClr val="dk1"/>
              </a:buClr>
              <a:buSzPts val="1200"/>
              <a:buFont typeface="Lato"/>
              <a:buChar char="●"/>
            </a:pPr>
            <a:r>
              <a:rPr lang="en" sz="1200" b="1">
                <a:solidFill>
                  <a:schemeClr val="dk1"/>
                </a:solidFill>
                <a:latin typeface="Lato"/>
                <a:ea typeface="Lato"/>
                <a:cs typeface="Lato"/>
                <a:sym typeface="Lato"/>
              </a:rPr>
              <a:t>Hiring Slogan</a:t>
            </a:r>
            <a:r>
              <a:rPr lang="en" sz="1200">
                <a:solidFill>
                  <a:schemeClr val="dk1"/>
                </a:solidFill>
                <a:latin typeface="Lato"/>
                <a:ea typeface="Lato"/>
                <a:cs typeface="Lato"/>
                <a:sym typeface="Lato"/>
              </a:rPr>
              <a:t>: “Like No Place You’ve Ever Worked”</a:t>
            </a:r>
            <a:endParaRPr sz="1200">
              <a:solidFill>
                <a:schemeClr val="dk1"/>
              </a:solidFill>
              <a:latin typeface="Lato"/>
              <a:ea typeface="Lato"/>
              <a:cs typeface="Lato"/>
              <a:sym typeface="Lato"/>
            </a:endParaRPr>
          </a:p>
          <a:p>
            <a:pPr marL="457200" lvl="0" indent="-304800" algn="l" rtl="0">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‘Fantastic, the #1 place in the world to work at’ (Business Analyst); ‘‘G</a:t>
            </a:r>
            <a:r>
              <a:rPr lang="en" sz="1200">
                <a:solidFill>
                  <a:srgbClr val="20262E"/>
                </a:solidFill>
                <a:latin typeface="Lato"/>
                <a:ea typeface="Lato"/>
                <a:cs typeface="Lato"/>
                <a:sym typeface="Lato"/>
              </a:rPr>
              <a:t>reat pay, open internal culture, skilled coworkers” (Senior SWE)</a:t>
            </a:r>
            <a:endParaRPr sz="1200">
              <a:solidFill>
                <a:schemeClr val="dk1"/>
              </a:solidFill>
              <a:latin typeface="Lato"/>
              <a:ea typeface="Lato"/>
              <a:cs typeface="Lato"/>
              <a:sym typeface="Lato"/>
            </a:endParaRPr>
          </a:p>
        </p:txBody>
      </p:sp>
      <p:sp>
        <p:nvSpPr>
          <p:cNvPr id="150" name="Google Shape;150;p15"/>
          <p:cNvSpPr txBox="1"/>
          <p:nvPr/>
        </p:nvSpPr>
        <p:spPr>
          <a:xfrm>
            <a:off x="4771286" y="498525"/>
            <a:ext cx="42978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CULTURE</a:t>
            </a:r>
            <a:endParaRPr sz="1300" b="1">
              <a:solidFill>
                <a:schemeClr val="lt1"/>
              </a:solidFill>
              <a:latin typeface="Lato"/>
              <a:ea typeface="Lato"/>
              <a:cs typeface="Lato"/>
              <a:sym typeface="Lato"/>
            </a:endParaRPr>
          </a:p>
        </p:txBody>
      </p:sp>
      <p:sp>
        <p:nvSpPr>
          <p:cNvPr id="151" name="Google Shape;151;p15"/>
          <p:cNvSpPr txBox="1"/>
          <p:nvPr/>
        </p:nvSpPr>
        <p:spPr>
          <a:xfrm>
            <a:off x="102862" y="3427675"/>
            <a:ext cx="4298400" cy="16557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 We advance computing to tackle impactful challenges no other companies can and problems that are nearly impossible today. In doing so, we create future markets and a better tomorrow.” (A letter from Jensen, 2023)</a:t>
            </a:r>
            <a:endParaRPr sz="1300">
              <a:solidFill>
                <a:schemeClr val="dk1"/>
              </a:solidFill>
              <a:latin typeface="Lato"/>
              <a:ea typeface="Lato"/>
              <a:cs typeface="Lato"/>
              <a:sym typeface="Lato"/>
            </a:endParaRPr>
          </a:p>
        </p:txBody>
      </p:sp>
      <p:sp>
        <p:nvSpPr>
          <p:cNvPr id="152" name="Google Shape;152;p15"/>
          <p:cNvSpPr txBox="1"/>
          <p:nvPr/>
        </p:nvSpPr>
        <p:spPr>
          <a:xfrm>
            <a:off x="101771" y="2969050"/>
            <a:ext cx="42978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MISSION</a:t>
            </a:r>
            <a:endParaRPr sz="1300" b="1">
              <a:solidFill>
                <a:schemeClr val="lt1"/>
              </a:solidFill>
              <a:latin typeface="Lato"/>
              <a:ea typeface="Lato"/>
              <a:cs typeface="Lato"/>
              <a:sym typeface="Lato"/>
            </a:endParaRPr>
          </a:p>
        </p:txBody>
      </p:sp>
      <p:sp>
        <p:nvSpPr>
          <p:cNvPr id="153" name="Google Shape;153;p15"/>
          <p:cNvSpPr txBox="1"/>
          <p:nvPr/>
        </p:nvSpPr>
        <p:spPr>
          <a:xfrm>
            <a:off x="4791945" y="3427675"/>
            <a:ext cx="4277100" cy="16557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Mellanox Technologies (2019)</a:t>
            </a:r>
            <a:endParaRPr sz="1300">
              <a:solidFill>
                <a:schemeClr val="dk1"/>
              </a:solidFill>
              <a:latin typeface="Lato"/>
              <a:ea typeface="Lato"/>
              <a:cs typeface="Lato"/>
              <a:sym typeface="Lato"/>
            </a:endParaRPr>
          </a:p>
          <a:p>
            <a:pPr marL="457200" lvl="0" indent="-311150" algn="l" rtl="0">
              <a:lnSpc>
                <a:spcPct val="2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Cumulus Networks (2020)</a:t>
            </a:r>
            <a:endParaRPr sz="1300">
              <a:solidFill>
                <a:schemeClr val="dk1"/>
              </a:solidFill>
              <a:latin typeface="Lato"/>
              <a:ea typeface="Lato"/>
              <a:cs typeface="Lato"/>
              <a:sym typeface="Lato"/>
            </a:endParaRPr>
          </a:p>
          <a:p>
            <a:pPr marL="457200" lvl="0" indent="-311150" algn="l" rtl="0">
              <a:lnSpc>
                <a:spcPct val="2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ARM Holdings (2020), Excelero (2022)</a:t>
            </a:r>
            <a:endParaRPr sz="1300">
              <a:solidFill>
                <a:schemeClr val="dk1"/>
              </a:solidFill>
              <a:latin typeface="Lato"/>
              <a:ea typeface="Lato"/>
              <a:cs typeface="Lato"/>
              <a:sym typeface="Lato"/>
            </a:endParaRPr>
          </a:p>
        </p:txBody>
      </p:sp>
      <p:sp>
        <p:nvSpPr>
          <p:cNvPr id="154" name="Google Shape;154;p15"/>
          <p:cNvSpPr txBox="1"/>
          <p:nvPr/>
        </p:nvSpPr>
        <p:spPr>
          <a:xfrm>
            <a:off x="4790957" y="2969050"/>
            <a:ext cx="42978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RECENT M&amp;A</a:t>
            </a:r>
            <a:endParaRPr sz="1300" b="1">
              <a:solidFill>
                <a:schemeClr val="lt1"/>
              </a:solidFill>
              <a:latin typeface="Lato"/>
              <a:ea typeface="Lato"/>
              <a:cs typeface="Lato"/>
              <a:sym typeface="Lato"/>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58"/>
        <p:cNvGrpSpPr/>
        <p:nvPr/>
      </p:nvGrpSpPr>
      <p:grpSpPr>
        <a:xfrm>
          <a:off x="0" y="0"/>
          <a:ext cx="0" cy="0"/>
          <a:chOff x="0" y="0"/>
          <a:chExt cx="0" cy="0"/>
        </a:xfrm>
      </p:grpSpPr>
      <p:sp>
        <p:nvSpPr>
          <p:cNvPr id="159" name="Google Shape;159;p16"/>
          <p:cNvSpPr txBox="1">
            <a:spLocks noGrp="1"/>
          </p:cNvSpPr>
          <p:nvPr>
            <p:ph type="body" idx="1"/>
          </p:nvPr>
        </p:nvSpPr>
        <p:spPr>
          <a:xfrm>
            <a:off x="311700" y="699100"/>
            <a:ext cx="8520600" cy="4126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t>Product</a:t>
            </a:r>
            <a:r>
              <a:rPr lang="en" sz="1600"/>
              <a:t>: Nvidia Blackwell GPU, emphasizing its unprecedented performance for gaming and content creation, particularly for horror and sci-fi genres.</a:t>
            </a:r>
            <a:endParaRPr sz="1600"/>
          </a:p>
          <a:p>
            <a:pPr marL="0" lvl="0" indent="0" algn="l" rtl="0">
              <a:spcBef>
                <a:spcPts val="1200"/>
              </a:spcBef>
              <a:spcAft>
                <a:spcPts val="0"/>
              </a:spcAft>
              <a:buNone/>
            </a:pPr>
            <a:r>
              <a:rPr lang="en" sz="1800" b="1"/>
              <a:t>Price</a:t>
            </a:r>
            <a:r>
              <a:rPr lang="en" sz="1600"/>
              <a:t>: Premium pricing strategy, It is positioned as a high-end product for enthusiasts and professionals.</a:t>
            </a:r>
            <a:endParaRPr sz="1600"/>
          </a:p>
          <a:p>
            <a:pPr marL="0" lvl="0" indent="0" algn="l" rtl="0">
              <a:spcBef>
                <a:spcPts val="1200"/>
              </a:spcBef>
              <a:spcAft>
                <a:spcPts val="0"/>
              </a:spcAft>
              <a:buNone/>
            </a:pPr>
            <a:r>
              <a:rPr lang="en" sz="1800" b="1"/>
              <a:t>Place</a:t>
            </a:r>
            <a:r>
              <a:rPr lang="en" sz="1600"/>
              <a:t>: Available through major online retailers, computer hardware stores, and Nvidia's official website.</a:t>
            </a:r>
            <a:endParaRPr sz="1600"/>
          </a:p>
          <a:p>
            <a:pPr marL="0" lvl="0" indent="0" algn="l" rtl="0">
              <a:spcBef>
                <a:spcPts val="1200"/>
              </a:spcBef>
              <a:spcAft>
                <a:spcPts val="0"/>
              </a:spcAft>
              <a:buNone/>
            </a:pPr>
            <a:r>
              <a:rPr lang="en" sz="1800" b="1"/>
              <a:t>Promotion</a:t>
            </a:r>
            <a:r>
              <a:rPr lang="en" sz="1600"/>
              <a:t>: Cross-promotional campaign with the Alien franchise, leveraging the iconic sci-fi horror brand to showcase the GPU's capabilities in rendering hyper-realistic, atmospheric environments and creatures.</a:t>
            </a:r>
            <a:endParaRPr sz="1600"/>
          </a:p>
          <a:p>
            <a:pPr marL="0" lvl="0" indent="0" algn="l" rtl="0">
              <a:spcBef>
                <a:spcPts val="1200"/>
              </a:spcBef>
              <a:spcAft>
                <a:spcPts val="1200"/>
              </a:spcAft>
              <a:buNone/>
            </a:pPr>
            <a:r>
              <a:rPr lang="en" sz="1600"/>
              <a:t>Targeting the high-end gaming and content creation market in North America, with a focus on the 18-35 age demographic.</a:t>
            </a:r>
            <a:endParaRPr sz="1600"/>
          </a:p>
        </p:txBody>
      </p:sp>
      <p:sp>
        <p:nvSpPr>
          <p:cNvPr id="160" name="Google Shape;160;p16"/>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Marketing Strategy/Advertising: 4 Ps Analysis</a:t>
            </a:r>
            <a:endParaRPr b="1"/>
          </a:p>
        </p:txBody>
      </p:sp>
    </p:spTree>
  </p:cSld>
  <p:clrMapOvr>
    <a:masterClrMapping/>
  </p:clrMapOvr>
  <mc:AlternateContent xmlns:mc="http://schemas.openxmlformats.org/markup-compatibility/2006" xmlns:p14="http://schemas.microsoft.com/office/powerpoint/2010/main">
    <mc:Choice Requires="p14">
      <p:transition spd="slow">
        <p:push dir="r"/>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7"/>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t>Marketing Strategy/Advertising</a:t>
            </a:r>
            <a:endParaRPr b="1"/>
          </a:p>
        </p:txBody>
      </p:sp>
      <p:sp>
        <p:nvSpPr>
          <p:cNvPr id="166" name="Google Shape;166;p17"/>
          <p:cNvSpPr txBox="1"/>
          <p:nvPr/>
        </p:nvSpPr>
        <p:spPr>
          <a:xfrm>
            <a:off x="409000" y="1033350"/>
            <a:ext cx="3705900" cy="16557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228600" marR="0" lvl="0" indent="-1968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Nvidia Blackwell GPU</a:t>
            </a:r>
            <a:endParaRPr sz="1300">
              <a:solidFill>
                <a:schemeClr val="dk1"/>
              </a:solidFill>
              <a:latin typeface="Lato"/>
              <a:ea typeface="Lato"/>
              <a:cs typeface="Lato"/>
              <a:sym typeface="Lato"/>
            </a:endParaRPr>
          </a:p>
          <a:p>
            <a:pPr marL="228600" marR="0" lvl="0" indent="-196850" algn="l" rtl="0">
              <a:lnSpc>
                <a:spcPct val="115000"/>
              </a:lnSpc>
              <a:spcBef>
                <a:spcPts val="800"/>
              </a:spcBef>
              <a:spcAft>
                <a:spcPts val="0"/>
              </a:spcAft>
              <a:buClr>
                <a:schemeClr val="dk1"/>
              </a:buClr>
              <a:buSzPts val="1300"/>
              <a:buFont typeface="Lato"/>
              <a:buChar char="●"/>
            </a:pPr>
            <a:r>
              <a:rPr lang="en" sz="1300">
                <a:solidFill>
                  <a:schemeClr val="dk1"/>
                </a:solidFill>
                <a:latin typeface="Lato"/>
                <a:ea typeface="Lato"/>
                <a:cs typeface="Lato"/>
                <a:sym typeface="Lato"/>
              </a:rPr>
              <a:t>Emphasizes unprecedented performance for gaming &amp; content creation</a:t>
            </a:r>
            <a:endParaRPr sz="1300">
              <a:solidFill>
                <a:schemeClr val="dk1"/>
              </a:solidFill>
              <a:latin typeface="Lato"/>
              <a:ea typeface="Lato"/>
              <a:cs typeface="Lato"/>
              <a:sym typeface="Lato"/>
            </a:endParaRPr>
          </a:p>
          <a:p>
            <a:pPr marL="228600" marR="0" lvl="0" indent="-196850" algn="l" rtl="0">
              <a:lnSpc>
                <a:spcPct val="115000"/>
              </a:lnSpc>
              <a:spcBef>
                <a:spcPts val="800"/>
              </a:spcBef>
              <a:spcAft>
                <a:spcPts val="800"/>
              </a:spcAft>
              <a:buClr>
                <a:schemeClr val="dk1"/>
              </a:buClr>
              <a:buSzPts val="1300"/>
              <a:buFont typeface="Lato"/>
              <a:buChar char="●"/>
            </a:pPr>
            <a:r>
              <a:rPr lang="en" sz="1300">
                <a:solidFill>
                  <a:schemeClr val="dk1"/>
                </a:solidFill>
                <a:latin typeface="Lato"/>
                <a:ea typeface="Lato"/>
                <a:cs typeface="Lato"/>
                <a:sym typeface="Lato"/>
              </a:rPr>
              <a:t>Particularly for horror and sci-fi genres</a:t>
            </a:r>
            <a:endParaRPr sz="1300">
              <a:solidFill>
                <a:schemeClr val="dk1"/>
              </a:solidFill>
              <a:latin typeface="Lato"/>
              <a:ea typeface="Lato"/>
              <a:cs typeface="Lato"/>
              <a:sym typeface="Lato"/>
            </a:endParaRPr>
          </a:p>
        </p:txBody>
      </p:sp>
      <p:sp>
        <p:nvSpPr>
          <p:cNvPr id="167" name="Google Shape;167;p17"/>
          <p:cNvSpPr txBox="1"/>
          <p:nvPr/>
        </p:nvSpPr>
        <p:spPr>
          <a:xfrm>
            <a:off x="409000" y="574725"/>
            <a:ext cx="37059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PRODUCT</a:t>
            </a:r>
            <a:endParaRPr sz="1300" b="1">
              <a:solidFill>
                <a:schemeClr val="lt1"/>
              </a:solidFill>
              <a:latin typeface="Lato"/>
              <a:ea typeface="Lato"/>
              <a:cs typeface="Lato"/>
              <a:sym typeface="Lato"/>
            </a:endParaRPr>
          </a:p>
        </p:txBody>
      </p:sp>
      <p:sp>
        <p:nvSpPr>
          <p:cNvPr id="168" name="Google Shape;168;p17"/>
          <p:cNvSpPr txBox="1"/>
          <p:nvPr/>
        </p:nvSpPr>
        <p:spPr>
          <a:xfrm>
            <a:off x="4814700" y="1033350"/>
            <a:ext cx="3705900" cy="16557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228600" lvl="0" indent="-1968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Premium pricing strategy</a:t>
            </a:r>
            <a:endParaRPr sz="1300">
              <a:solidFill>
                <a:schemeClr val="dk1"/>
              </a:solidFill>
              <a:latin typeface="Lato"/>
              <a:ea typeface="Lato"/>
              <a:cs typeface="Lato"/>
              <a:sym typeface="Lato"/>
            </a:endParaRPr>
          </a:p>
          <a:p>
            <a:pPr marL="228600" lvl="0" indent="-196850" algn="l" rtl="0">
              <a:lnSpc>
                <a:spcPct val="115000"/>
              </a:lnSpc>
              <a:spcBef>
                <a:spcPts val="800"/>
              </a:spcBef>
              <a:spcAft>
                <a:spcPts val="800"/>
              </a:spcAft>
              <a:buClr>
                <a:schemeClr val="dk1"/>
              </a:buClr>
              <a:buSzPts val="1300"/>
              <a:buFont typeface="Lato"/>
              <a:buChar char="●"/>
            </a:pPr>
            <a:r>
              <a:rPr lang="en" sz="1300">
                <a:solidFill>
                  <a:schemeClr val="dk1"/>
                </a:solidFill>
                <a:latin typeface="Lato"/>
                <a:ea typeface="Lato"/>
                <a:cs typeface="Lato"/>
                <a:sym typeface="Lato"/>
              </a:rPr>
              <a:t>Positioned as a high-end product for enthusiasts and professionals</a:t>
            </a:r>
            <a:endParaRPr sz="1300">
              <a:solidFill>
                <a:schemeClr val="dk1"/>
              </a:solidFill>
              <a:latin typeface="Lato"/>
              <a:ea typeface="Lato"/>
              <a:cs typeface="Lato"/>
              <a:sym typeface="Lato"/>
            </a:endParaRPr>
          </a:p>
        </p:txBody>
      </p:sp>
      <p:sp>
        <p:nvSpPr>
          <p:cNvPr id="169" name="Google Shape;169;p17"/>
          <p:cNvSpPr txBox="1"/>
          <p:nvPr/>
        </p:nvSpPr>
        <p:spPr>
          <a:xfrm>
            <a:off x="4814700" y="574725"/>
            <a:ext cx="37059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PRICE</a:t>
            </a:r>
            <a:endParaRPr sz="1300" b="1">
              <a:solidFill>
                <a:schemeClr val="lt1"/>
              </a:solidFill>
              <a:latin typeface="Lato"/>
              <a:ea typeface="Lato"/>
              <a:cs typeface="Lato"/>
              <a:sym typeface="Lato"/>
            </a:endParaRPr>
          </a:p>
        </p:txBody>
      </p:sp>
      <p:sp>
        <p:nvSpPr>
          <p:cNvPr id="170" name="Google Shape;170;p17"/>
          <p:cNvSpPr txBox="1"/>
          <p:nvPr/>
        </p:nvSpPr>
        <p:spPr>
          <a:xfrm>
            <a:off x="426900" y="3351475"/>
            <a:ext cx="3705900" cy="16557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228600" marR="0" lvl="0" indent="-1968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Available through</a:t>
            </a:r>
            <a:endParaRPr sz="1300">
              <a:solidFill>
                <a:schemeClr val="dk1"/>
              </a:solidFill>
              <a:latin typeface="Lato"/>
              <a:ea typeface="Lato"/>
              <a:cs typeface="Lato"/>
              <a:sym typeface="Lato"/>
            </a:endParaRPr>
          </a:p>
          <a:p>
            <a:pPr marL="571500" marR="0" lvl="1" indent="-3111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Major online retailers</a:t>
            </a:r>
            <a:endParaRPr sz="1300">
              <a:solidFill>
                <a:schemeClr val="dk1"/>
              </a:solidFill>
              <a:latin typeface="Lato"/>
              <a:ea typeface="Lato"/>
              <a:cs typeface="Lato"/>
              <a:sym typeface="Lato"/>
            </a:endParaRPr>
          </a:p>
          <a:p>
            <a:pPr marL="571500" marR="0" lvl="1" indent="-311150" algn="l" rtl="0">
              <a:lnSpc>
                <a:spcPct val="115000"/>
              </a:lnSpc>
              <a:spcBef>
                <a:spcPts val="400"/>
              </a:spcBef>
              <a:spcAft>
                <a:spcPts val="0"/>
              </a:spcAft>
              <a:buClr>
                <a:schemeClr val="dk1"/>
              </a:buClr>
              <a:buSzPts val="1300"/>
              <a:buFont typeface="Lato"/>
              <a:buChar char="○"/>
            </a:pPr>
            <a:r>
              <a:rPr lang="en" sz="1300">
                <a:solidFill>
                  <a:schemeClr val="dk1"/>
                </a:solidFill>
                <a:latin typeface="Lato"/>
                <a:ea typeface="Lato"/>
                <a:cs typeface="Lato"/>
                <a:sym typeface="Lato"/>
              </a:rPr>
              <a:t>Computer hardware stores</a:t>
            </a:r>
            <a:endParaRPr sz="1300">
              <a:solidFill>
                <a:schemeClr val="dk1"/>
              </a:solidFill>
              <a:latin typeface="Lato"/>
              <a:ea typeface="Lato"/>
              <a:cs typeface="Lato"/>
              <a:sym typeface="Lato"/>
            </a:endParaRPr>
          </a:p>
          <a:p>
            <a:pPr marL="571500" marR="0" lvl="1" indent="-311150" algn="l" rtl="0">
              <a:lnSpc>
                <a:spcPct val="115000"/>
              </a:lnSpc>
              <a:spcBef>
                <a:spcPts val="400"/>
              </a:spcBef>
              <a:spcAft>
                <a:spcPts val="400"/>
              </a:spcAft>
              <a:buClr>
                <a:schemeClr val="dk1"/>
              </a:buClr>
              <a:buSzPts val="1300"/>
              <a:buFont typeface="Lato"/>
              <a:buChar char="○"/>
            </a:pPr>
            <a:r>
              <a:rPr lang="en" sz="1300">
                <a:solidFill>
                  <a:schemeClr val="dk1"/>
                </a:solidFill>
                <a:latin typeface="Lato"/>
                <a:ea typeface="Lato"/>
                <a:cs typeface="Lato"/>
                <a:sym typeface="Lato"/>
              </a:rPr>
              <a:t>Nvidia's official website</a:t>
            </a:r>
            <a:endParaRPr sz="1300">
              <a:solidFill>
                <a:schemeClr val="dk1"/>
              </a:solidFill>
              <a:latin typeface="Lato"/>
              <a:ea typeface="Lato"/>
              <a:cs typeface="Lato"/>
              <a:sym typeface="Lato"/>
            </a:endParaRPr>
          </a:p>
        </p:txBody>
      </p:sp>
      <p:sp>
        <p:nvSpPr>
          <p:cNvPr id="171" name="Google Shape;171;p17"/>
          <p:cNvSpPr txBox="1"/>
          <p:nvPr/>
        </p:nvSpPr>
        <p:spPr>
          <a:xfrm>
            <a:off x="426900" y="2892850"/>
            <a:ext cx="37059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PLACE</a:t>
            </a:r>
            <a:endParaRPr sz="1300" b="1">
              <a:solidFill>
                <a:schemeClr val="lt1"/>
              </a:solidFill>
              <a:latin typeface="Lato"/>
              <a:ea typeface="Lato"/>
              <a:cs typeface="Lato"/>
              <a:sym typeface="Lato"/>
            </a:endParaRPr>
          </a:p>
        </p:txBody>
      </p:sp>
      <p:sp>
        <p:nvSpPr>
          <p:cNvPr id="172" name="Google Shape;172;p17"/>
          <p:cNvSpPr txBox="1"/>
          <p:nvPr/>
        </p:nvSpPr>
        <p:spPr>
          <a:xfrm>
            <a:off x="4832600" y="3351475"/>
            <a:ext cx="3705900" cy="1655700"/>
          </a:xfrm>
          <a:prstGeom prst="rect">
            <a:avLst/>
          </a:prstGeom>
          <a:gradFill>
            <a:gsLst>
              <a:gs pos="0">
                <a:srgbClr val="DCECD5"/>
              </a:gs>
              <a:gs pos="100000">
                <a:srgbClr val="92BC81"/>
              </a:gs>
            </a:gsLst>
            <a:lin ang="5400012" scaled="0"/>
          </a:gradFill>
          <a:ln w="9525" cap="flat" cmpd="sng">
            <a:solidFill>
              <a:srgbClr val="00FF00"/>
            </a:solidFill>
            <a:prstDash val="solid"/>
            <a:round/>
            <a:headEnd type="none" w="sm" len="sm"/>
            <a:tailEnd type="none" w="sm" len="sm"/>
          </a:ln>
          <a:effectLst>
            <a:outerShdw blurRad="57150" dist="76200" dir="3600000" algn="bl" rotWithShape="0">
              <a:srgbClr val="000000">
                <a:alpha val="50000"/>
              </a:srgbClr>
            </a:outerShdw>
          </a:effectLst>
        </p:spPr>
        <p:txBody>
          <a:bodyPr spcFirstLastPara="1" wrap="square" lIns="91425" tIns="91425" rIns="91425" bIns="91425" anchor="t" anchorCtr="0">
            <a:noAutofit/>
          </a:bodyPr>
          <a:lstStyle/>
          <a:p>
            <a:pPr marL="228600" marR="0" lvl="0" indent="-196850" algn="l" rtl="0">
              <a:lnSpc>
                <a:spcPct val="115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Cross-promotional campaign with the Alien franchise</a:t>
            </a:r>
            <a:endParaRPr sz="1300">
              <a:solidFill>
                <a:schemeClr val="dk1"/>
              </a:solidFill>
              <a:latin typeface="Lato"/>
              <a:ea typeface="Lato"/>
              <a:cs typeface="Lato"/>
              <a:sym typeface="Lato"/>
            </a:endParaRPr>
          </a:p>
          <a:p>
            <a:pPr marL="228600" marR="0" lvl="0" indent="-196850" algn="l" rtl="0">
              <a:lnSpc>
                <a:spcPct val="115000"/>
              </a:lnSpc>
              <a:spcBef>
                <a:spcPts val="800"/>
              </a:spcBef>
              <a:spcAft>
                <a:spcPts val="0"/>
              </a:spcAft>
              <a:buClr>
                <a:schemeClr val="dk1"/>
              </a:buClr>
              <a:buSzPts val="1300"/>
              <a:buFont typeface="Lato"/>
              <a:buChar char="●"/>
            </a:pPr>
            <a:r>
              <a:rPr lang="en" sz="1300">
                <a:solidFill>
                  <a:schemeClr val="dk1"/>
                </a:solidFill>
                <a:latin typeface="Lato"/>
                <a:ea typeface="Lato"/>
                <a:cs typeface="Lato"/>
                <a:sym typeface="Lato"/>
              </a:rPr>
              <a:t>Leverage iconic sci-fi horror brand</a:t>
            </a:r>
            <a:endParaRPr sz="1300">
              <a:solidFill>
                <a:schemeClr val="dk1"/>
              </a:solidFill>
              <a:latin typeface="Lato"/>
              <a:ea typeface="Lato"/>
              <a:cs typeface="Lato"/>
              <a:sym typeface="Lato"/>
            </a:endParaRPr>
          </a:p>
          <a:p>
            <a:pPr marL="228600" marR="0" lvl="0" indent="-196850" algn="l" rtl="0">
              <a:lnSpc>
                <a:spcPct val="115000"/>
              </a:lnSpc>
              <a:spcBef>
                <a:spcPts val="800"/>
              </a:spcBef>
              <a:spcAft>
                <a:spcPts val="800"/>
              </a:spcAft>
              <a:buClr>
                <a:schemeClr val="dk1"/>
              </a:buClr>
              <a:buSzPts val="1300"/>
              <a:buFont typeface="Lato"/>
              <a:buChar char="●"/>
            </a:pPr>
            <a:r>
              <a:rPr lang="en" sz="1300">
                <a:solidFill>
                  <a:schemeClr val="dk1"/>
                </a:solidFill>
                <a:latin typeface="Lato"/>
                <a:ea typeface="Lato"/>
                <a:cs typeface="Lato"/>
                <a:sym typeface="Lato"/>
              </a:rPr>
              <a:t>Showcase GPU's capabilities in rendering hyper-realistic, atmospheric environments and creatures</a:t>
            </a:r>
            <a:endParaRPr sz="1300">
              <a:solidFill>
                <a:schemeClr val="dk1"/>
              </a:solidFill>
              <a:latin typeface="Lato"/>
              <a:ea typeface="Lato"/>
              <a:cs typeface="Lato"/>
              <a:sym typeface="Lato"/>
            </a:endParaRPr>
          </a:p>
        </p:txBody>
      </p:sp>
      <p:sp>
        <p:nvSpPr>
          <p:cNvPr id="173" name="Google Shape;173;p17"/>
          <p:cNvSpPr txBox="1"/>
          <p:nvPr/>
        </p:nvSpPr>
        <p:spPr>
          <a:xfrm>
            <a:off x="4832600" y="2892850"/>
            <a:ext cx="3705900" cy="471000"/>
          </a:xfrm>
          <a:prstGeom prst="rect">
            <a:avLst/>
          </a:prstGeom>
          <a:gradFill>
            <a:gsLst>
              <a:gs pos="0">
                <a:srgbClr val="51AB2A"/>
              </a:gs>
              <a:gs pos="100000">
                <a:srgbClr val="203E13"/>
              </a:gs>
            </a:gsLst>
            <a:lin ang="5400012" scaled="0"/>
          </a:gradFill>
          <a:ln w="9525" cap="flat" cmpd="sng">
            <a:solidFill>
              <a:srgbClr val="00FF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Lato"/>
                <a:ea typeface="Lato"/>
                <a:cs typeface="Lato"/>
                <a:sym typeface="Lato"/>
              </a:rPr>
              <a:t>PROMOTION</a:t>
            </a:r>
            <a:endParaRPr sz="1300" b="1">
              <a:solidFill>
                <a:schemeClr val="lt1"/>
              </a:solidFill>
              <a:latin typeface="Lato"/>
              <a:ea typeface="Lato"/>
              <a:cs typeface="Lato"/>
              <a:sym typeface="Lato"/>
            </a:endParaRPr>
          </a:p>
        </p:txBody>
      </p:sp>
    </p:spTree>
  </p:cSld>
  <p:clrMapOvr>
    <a:masterClrMapping/>
  </p:clrMapOvr>
  <mc:AlternateContent xmlns:mc="http://schemas.openxmlformats.org/markup-compatibility/2006" xmlns:p14="http://schemas.microsoft.com/office/powerpoint/2010/main">
    <mc:Choice Requires="p14">
      <p:transition spd="slow">
        <p:push dir="r"/>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8"/>
          <p:cNvPicPr preferRelativeResize="0"/>
          <p:nvPr/>
        </p:nvPicPr>
        <p:blipFill>
          <a:blip r:embed="rId3">
            <a:alphaModFix/>
          </a:blip>
          <a:stretch>
            <a:fillRect/>
          </a:stretch>
        </p:blipFill>
        <p:spPr>
          <a:xfrm>
            <a:off x="3962800" y="0"/>
            <a:ext cx="5181199" cy="5143501"/>
          </a:xfrm>
          <a:prstGeom prst="rect">
            <a:avLst/>
          </a:prstGeom>
          <a:noFill/>
          <a:ln>
            <a:noFill/>
          </a:ln>
        </p:spPr>
      </p:pic>
      <p:sp>
        <p:nvSpPr>
          <p:cNvPr id="179" name="Google Shape;179;p18"/>
          <p:cNvSpPr txBox="1"/>
          <p:nvPr/>
        </p:nvSpPr>
        <p:spPr>
          <a:xfrm>
            <a:off x="67725" y="203250"/>
            <a:ext cx="3720900" cy="47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lt1"/>
                </a:solidFill>
              </a:rPr>
              <a:t>Explaining the Idea:</a:t>
            </a:r>
            <a:endParaRPr sz="1900" b="1">
              <a:solidFill>
                <a:schemeClr val="lt1"/>
              </a:solidFill>
            </a:endParaRPr>
          </a:p>
          <a:p>
            <a:pPr marL="0" lvl="0" indent="0" algn="l" rtl="0">
              <a:spcBef>
                <a:spcPts val="0"/>
              </a:spcBef>
              <a:spcAft>
                <a:spcPts val="0"/>
              </a:spcAft>
              <a:buNone/>
            </a:pPr>
            <a:r>
              <a:rPr lang="en" sz="1800" b="1" i="1">
                <a:solidFill>
                  <a:srgbClr val="111111"/>
                </a:solidFill>
              </a:rPr>
              <a:t>The Visual Concept:</a:t>
            </a:r>
            <a:r>
              <a:rPr lang="en" sz="1800">
                <a:solidFill>
                  <a:schemeClr val="lt1"/>
                </a:solidFill>
              </a:rPr>
              <a:t> Inspired by the iconic Alien egg scene, reimagined with NVIDIA's signature elements. </a:t>
            </a:r>
            <a:endParaRPr sz="1800">
              <a:solidFill>
                <a:schemeClr val="lt1"/>
              </a:solidFill>
            </a:endParaRPr>
          </a:p>
          <a:p>
            <a:pPr marL="0" lvl="0" indent="0" algn="l" rtl="0">
              <a:spcBef>
                <a:spcPts val="0"/>
              </a:spcBef>
              <a:spcAft>
                <a:spcPts val="0"/>
              </a:spcAft>
              <a:buNone/>
            </a:pPr>
            <a:r>
              <a:rPr lang="en" sz="1800" b="1" i="1">
                <a:solidFill>
                  <a:srgbClr val="1A1A1A"/>
                </a:solidFill>
              </a:rPr>
              <a:t>Main Headline:</a:t>
            </a:r>
            <a:r>
              <a:rPr lang="en" sz="1800">
                <a:solidFill>
                  <a:schemeClr val="lt1"/>
                </a:solidFill>
              </a:rPr>
              <a:t> Connects gaming culture and the Alien franchise.</a:t>
            </a:r>
            <a:endParaRPr sz="1800">
              <a:solidFill>
                <a:schemeClr val="lt1"/>
              </a:solidFill>
            </a:endParaRPr>
          </a:p>
          <a:p>
            <a:pPr marL="0" lvl="0" indent="0" algn="l" rtl="0">
              <a:spcBef>
                <a:spcPts val="0"/>
              </a:spcBef>
              <a:spcAft>
                <a:spcPts val="0"/>
              </a:spcAft>
              <a:buNone/>
            </a:pPr>
            <a:r>
              <a:rPr lang="en" sz="1800" b="1" i="1">
                <a:solidFill>
                  <a:schemeClr val="dk1"/>
                </a:solidFill>
              </a:rPr>
              <a:t>Subheading:</a:t>
            </a:r>
            <a:r>
              <a:rPr lang="en" sz="1800">
                <a:solidFill>
                  <a:schemeClr val="lt1"/>
                </a:solidFill>
              </a:rPr>
              <a:t> Plays on “In Space, no one can hear you scream.”- while emphasizing products capabilities.</a:t>
            </a:r>
            <a:endParaRPr sz="1800">
              <a:solidFill>
                <a:schemeClr val="lt1"/>
              </a:solidFill>
            </a:endParaRPr>
          </a:p>
          <a:p>
            <a:pPr marL="0" lvl="0" indent="0" algn="l" rtl="0">
              <a:spcBef>
                <a:spcPts val="0"/>
              </a:spcBef>
              <a:spcAft>
                <a:spcPts val="0"/>
              </a:spcAft>
              <a:buNone/>
            </a:pPr>
            <a:r>
              <a:rPr lang="en" sz="1800" b="1" i="1">
                <a:solidFill>
                  <a:srgbClr val="1A1A1A"/>
                </a:solidFill>
              </a:rPr>
              <a:t>Tagline:</a:t>
            </a:r>
            <a:r>
              <a:rPr lang="en" sz="1800">
                <a:solidFill>
                  <a:schemeClr val="lt1"/>
                </a:solidFill>
              </a:rPr>
              <a:t> Ties the themes together and hopes to compel audience to be part of the next gaming evolution.</a:t>
            </a:r>
            <a:endParaRPr sz="1800">
              <a:solidFill>
                <a:schemeClr val="lt1"/>
              </a:solidFill>
            </a:endParaRPr>
          </a:p>
        </p:txBody>
      </p:sp>
      <p:pic>
        <p:nvPicPr>
          <p:cNvPr id="180" name="Google Shape;180;p18"/>
          <p:cNvPicPr preferRelativeResize="0"/>
          <p:nvPr/>
        </p:nvPicPr>
        <p:blipFill rotWithShape="1">
          <a:blip r:embed="rId4">
            <a:alphaModFix/>
          </a:blip>
          <a:srcRect/>
          <a:stretch/>
        </p:blipFill>
        <p:spPr>
          <a:xfrm>
            <a:off x="0" y="4926"/>
            <a:ext cx="9144000" cy="513365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xit" presetSubtype="32" fill="hold" nodeType="clickEffect">
                                  <p:stCondLst>
                                    <p:cond delay="0"/>
                                  </p:stCondLst>
                                  <p:childTnLst>
                                    <p:anim calcmode="lin" valueType="num">
                                      <p:cBhvr additive="base">
                                        <p:cTn id="6" dur="1200"/>
                                        <p:tgtEl>
                                          <p:spTgt spid="180"/>
                                        </p:tgtEl>
                                        <p:attrNameLst>
                                          <p:attrName>ppt_w</p:attrName>
                                        </p:attrNameLst>
                                      </p:cBhvr>
                                      <p:tavLst>
                                        <p:tav tm="0">
                                          <p:val>
                                            <p:strVal val="#ppt_w"/>
                                          </p:val>
                                        </p:tav>
                                        <p:tav tm="100000">
                                          <p:val>
                                            <p:strVal val="0"/>
                                          </p:val>
                                        </p:tav>
                                      </p:tavLst>
                                    </p:anim>
                                    <p:anim calcmode="lin" valueType="num">
                                      <p:cBhvr additive="base">
                                        <p:cTn id="7" dur="1200"/>
                                        <p:tgtEl>
                                          <p:spTgt spid="180"/>
                                        </p:tgtEl>
                                        <p:attrNameLst>
                                          <p:attrName>ppt_h</p:attrName>
                                        </p:attrNameLst>
                                      </p:cBhvr>
                                      <p:tavLst>
                                        <p:tav tm="0">
                                          <p:val>
                                            <p:strVal val="#ppt_h"/>
                                          </p:val>
                                        </p:tav>
                                        <p:tav tm="100000">
                                          <p:val>
                                            <p:strVal val="0"/>
                                          </p:val>
                                        </p:tav>
                                      </p:tavLst>
                                    </p:anim>
                                    <p:set>
                                      <p:cBhvr>
                                        <p:cTn id="8" dur="1" fill="hold">
                                          <p:stCondLst>
                                            <p:cond delay="1200"/>
                                          </p:stCondLst>
                                        </p:cTn>
                                        <p:tgtEl>
                                          <p:spTgt spid="1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0" y="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b="1"/>
              <a:t>Financial Analysis: NVDA Income Statement &amp; Balance Sheet</a:t>
            </a:r>
            <a:endParaRPr sz="2000" b="1"/>
          </a:p>
          <a:p>
            <a:pPr marL="0" lvl="0" indent="0" algn="ctr" rtl="0">
              <a:spcBef>
                <a:spcPts val="0"/>
              </a:spcBef>
              <a:spcAft>
                <a:spcPts val="0"/>
              </a:spcAft>
              <a:buNone/>
            </a:pPr>
            <a:endParaRPr sz="2000" b="1"/>
          </a:p>
        </p:txBody>
      </p:sp>
      <p:sp>
        <p:nvSpPr>
          <p:cNvPr id="186" name="Google Shape;186;p19"/>
          <p:cNvSpPr txBox="1"/>
          <p:nvPr/>
        </p:nvSpPr>
        <p:spPr>
          <a:xfrm>
            <a:off x="220825" y="3281075"/>
            <a:ext cx="4199100" cy="1767900"/>
          </a:xfrm>
          <a:prstGeom prst="rect">
            <a:avLst/>
          </a:prstGeom>
          <a:noFill/>
          <a:ln w="19050" cap="flat" cmpd="sng">
            <a:solidFill>
              <a:srgbClr val="666666"/>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solidFill>
                  <a:schemeClr val="dk1"/>
                </a:solidFill>
                <a:highlight>
                  <a:srgbClr val="76B900"/>
                </a:highlight>
              </a:rPr>
              <a:t>Recommendations </a:t>
            </a:r>
            <a:endParaRPr sz="1300" b="1">
              <a:solidFill>
                <a:schemeClr val="dk1"/>
              </a:solidFill>
              <a:highlight>
                <a:srgbClr val="76B900"/>
              </a:highlight>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Optimize inventory turnover </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Monitor short term debt, 0 to $1B</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Sustain growth trajectory, 4x in 2 years</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Optimize cost of revenue (similar to cogs), Improve operational efficiency</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Data Center growth</a:t>
            </a:r>
            <a:endParaRPr sz="1300">
              <a:solidFill>
                <a:schemeClr val="dk1"/>
              </a:solidFill>
            </a:endParaRPr>
          </a:p>
        </p:txBody>
      </p:sp>
      <p:sp>
        <p:nvSpPr>
          <p:cNvPr id="187" name="Google Shape;187;p19"/>
          <p:cNvSpPr txBox="1"/>
          <p:nvPr/>
        </p:nvSpPr>
        <p:spPr>
          <a:xfrm>
            <a:off x="4515125" y="3840825"/>
            <a:ext cx="4476600" cy="1208100"/>
          </a:xfrm>
          <a:prstGeom prst="rect">
            <a:avLst/>
          </a:prstGeom>
          <a:noFill/>
          <a:ln w="19050" cap="flat" cmpd="sng">
            <a:solidFill>
              <a:srgbClr val="666666"/>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rPr>
              <a:t>Liquidity Ratio: 4.17 (Current Asset / Current Liabilities)</a:t>
            </a:r>
            <a:endParaRPr sz="1200" b="1">
              <a:solidFill>
                <a:schemeClr val="dk1"/>
              </a:solidFill>
            </a:endParaRPr>
          </a:p>
          <a:p>
            <a:pPr marL="0" lvl="0" indent="0" algn="l" rtl="0">
              <a:lnSpc>
                <a:spcPct val="115000"/>
              </a:lnSpc>
              <a:spcBef>
                <a:spcPts val="0"/>
              </a:spcBef>
              <a:spcAft>
                <a:spcPts val="0"/>
              </a:spcAft>
              <a:buNone/>
            </a:pPr>
            <a:r>
              <a:rPr lang="en" sz="1200" b="1">
                <a:solidFill>
                  <a:schemeClr val="dk1"/>
                </a:solidFill>
              </a:rPr>
              <a:t>Leverage Ratio: 0.52 (Debt / Total Equity) 22,750/ 42,978</a:t>
            </a:r>
            <a:br>
              <a:rPr lang="en" sz="1200" b="1">
                <a:solidFill>
                  <a:schemeClr val="dk1"/>
                </a:solidFill>
              </a:rPr>
            </a:br>
            <a:r>
              <a:rPr lang="en" sz="1200">
                <a:solidFill>
                  <a:schemeClr val="dk1"/>
                </a:solidFill>
              </a:rPr>
              <a:t>Competitors have leverage ratios 0.4–1.0</a:t>
            </a:r>
            <a:br>
              <a:rPr lang="en" sz="1200">
                <a:solidFill>
                  <a:schemeClr val="dk1"/>
                </a:solidFill>
              </a:rPr>
            </a:br>
            <a:endParaRPr sz="1000"/>
          </a:p>
          <a:p>
            <a:pPr marL="0" lvl="0" indent="0" algn="l" rtl="0">
              <a:lnSpc>
                <a:spcPct val="115000"/>
              </a:lnSpc>
              <a:spcBef>
                <a:spcPts val="0"/>
              </a:spcBef>
              <a:spcAft>
                <a:spcPts val="0"/>
              </a:spcAft>
              <a:buNone/>
            </a:pPr>
            <a:r>
              <a:rPr lang="en" sz="1000">
                <a:solidFill>
                  <a:schemeClr val="lt1"/>
                </a:solidFill>
              </a:rPr>
              <a:t>Notes:  Cost of Revenue represents technology company cost of intellectual capital like salaries</a:t>
            </a:r>
            <a:endParaRPr sz="1000">
              <a:solidFill>
                <a:schemeClr val="lt1"/>
              </a:solidFill>
            </a:endParaRPr>
          </a:p>
          <a:p>
            <a:pPr marL="0" lvl="0" indent="0" algn="l" rtl="0">
              <a:lnSpc>
                <a:spcPct val="115000"/>
              </a:lnSpc>
              <a:spcBef>
                <a:spcPts val="0"/>
              </a:spcBef>
              <a:spcAft>
                <a:spcPts val="0"/>
              </a:spcAft>
              <a:buNone/>
            </a:pPr>
            <a:endParaRPr sz="1300" b="1">
              <a:solidFill>
                <a:schemeClr val="dk1"/>
              </a:solidFill>
              <a:highlight>
                <a:schemeClr val="lt1"/>
              </a:highlight>
            </a:endParaRPr>
          </a:p>
        </p:txBody>
      </p:sp>
      <p:sp>
        <p:nvSpPr>
          <p:cNvPr id="188" name="Google Shape;188;p19"/>
          <p:cNvSpPr txBox="1"/>
          <p:nvPr/>
        </p:nvSpPr>
        <p:spPr>
          <a:xfrm>
            <a:off x="3261025" y="2932050"/>
            <a:ext cx="1158900" cy="5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1"/>
                </a:solidFill>
                <a:latin typeface="Lato"/>
                <a:ea typeface="Lato"/>
                <a:cs typeface="Lato"/>
                <a:sym typeface="Lato"/>
              </a:rPr>
              <a:t>FYE: Jan 31st </a:t>
            </a:r>
            <a:endParaRPr sz="1300">
              <a:solidFill>
                <a:schemeClr val="lt1"/>
              </a:solidFill>
              <a:latin typeface="Lato"/>
              <a:ea typeface="Lato"/>
              <a:cs typeface="Lato"/>
              <a:sym typeface="Lato"/>
            </a:endParaRPr>
          </a:p>
        </p:txBody>
      </p:sp>
      <p:pic>
        <p:nvPicPr>
          <p:cNvPr id="189" name="Google Shape;189;p19"/>
          <p:cNvPicPr preferRelativeResize="0"/>
          <p:nvPr/>
        </p:nvPicPr>
        <p:blipFill>
          <a:blip r:embed="rId3">
            <a:alphaModFix/>
          </a:blip>
          <a:stretch>
            <a:fillRect/>
          </a:stretch>
        </p:blipFill>
        <p:spPr>
          <a:xfrm>
            <a:off x="4574388" y="572700"/>
            <a:ext cx="4358074" cy="3232700"/>
          </a:xfrm>
          <a:prstGeom prst="rect">
            <a:avLst/>
          </a:prstGeom>
          <a:noFill/>
          <a:ln>
            <a:noFill/>
          </a:ln>
        </p:spPr>
      </p:pic>
      <p:pic>
        <p:nvPicPr>
          <p:cNvPr id="190" name="Google Shape;190;p19"/>
          <p:cNvPicPr preferRelativeResize="0"/>
          <p:nvPr/>
        </p:nvPicPr>
        <p:blipFill>
          <a:blip r:embed="rId4">
            <a:alphaModFix/>
          </a:blip>
          <a:stretch>
            <a:fillRect/>
          </a:stretch>
        </p:blipFill>
        <p:spPr>
          <a:xfrm>
            <a:off x="244813" y="572700"/>
            <a:ext cx="4151125" cy="23271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45833"/>
              <a:buFont typeface="Arial"/>
              <a:buNone/>
            </a:pPr>
            <a:r>
              <a:rPr lang="en" b="1"/>
              <a:t>Financial Analysis: NVDA 3Y Comparative Stock Chart</a:t>
            </a:r>
            <a:endParaRPr b="1"/>
          </a:p>
          <a:p>
            <a:pPr marL="0" lvl="0" indent="0" algn="l" rtl="0">
              <a:spcBef>
                <a:spcPts val="0"/>
              </a:spcBef>
              <a:spcAft>
                <a:spcPts val="0"/>
              </a:spcAft>
              <a:buNone/>
            </a:pPr>
            <a:endParaRPr b="1"/>
          </a:p>
          <a:p>
            <a:pPr marL="0" lvl="0" indent="0" algn="l" rtl="0">
              <a:spcBef>
                <a:spcPts val="0"/>
              </a:spcBef>
              <a:spcAft>
                <a:spcPts val="0"/>
              </a:spcAft>
              <a:buClr>
                <a:schemeClr val="dk1"/>
              </a:buClr>
              <a:buSzPct val="45833"/>
              <a:buFont typeface="Arial"/>
              <a:buNone/>
            </a:pPr>
            <a:endParaRPr b="1"/>
          </a:p>
          <a:p>
            <a:pPr marL="0" lvl="0" indent="0" algn="l" rtl="0">
              <a:spcBef>
                <a:spcPts val="0"/>
              </a:spcBef>
              <a:spcAft>
                <a:spcPts val="0"/>
              </a:spcAft>
              <a:buNone/>
            </a:pPr>
            <a:endParaRPr b="1"/>
          </a:p>
        </p:txBody>
      </p:sp>
      <p:sp>
        <p:nvSpPr>
          <p:cNvPr id="196" name="Google Shape;196;p20"/>
          <p:cNvSpPr txBox="1">
            <a:spLocks noGrp="1"/>
          </p:cNvSpPr>
          <p:nvPr>
            <p:ph type="body" idx="1"/>
          </p:nvPr>
        </p:nvSpPr>
        <p:spPr>
          <a:xfrm>
            <a:off x="311700" y="572700"/>
            <a:ext cx="8520600" cy="3996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endParaRPr sz="2800">
              <a:solidFill>
                <a:schemeClr val="dk1"/>
              </a:solidFill>
            </a:endParaRPr>
          </a:p>
          <a:p>
            <a:pPr marL="0" lvl="0" indent="0" algn="l" rtl="0">
              <a:spcBef>
                <a:spcPts val="0"/>
              </a:spcBef>
              <a:spcAft>
                <a:spcPts val="1200"/>
              </a:spcAft>
              <a:buNone/>
            </a:pPr>
            <a:endParaRPr/>
          </a:p>
        </p:txBody>
      </p:sp>
      <p:pic>
        <p:nvPicPr>
          <p:cNvPr id="197" name="Google Shape;197;p20"/>
          <p:cNvPicPr preferRelativeResize="0"/>
          <p:nvPr/>
        </p:nvPicPr>
        <p:blipFill rotWithShape="1">
          <a:blip r:embed="rId3">
            <a:alphaModFix/>
          </a:blip>
          <a:srcRect t="250" b="-249"/>
          <a:stretch/>
        </p:blipFill>
        <p:spPr>
          <a:xfrm>
            <a:off x="235500" y="496500"/>
            <a:ext cx="8436050" cy="4403176"/>
          </a:xfrm>
          <a:prstGeom prst="rect">
            <a:avLst/>
          </a:prstGeom>
          <a:noFill/>
          <a:ln>
            <a:noFill/>
          </a:ln>
          <a:effectLst>
            <a:outerShdw blurRad="57150" dist="171450" dir="3600000" algn="bl" rotWithShape="0">
              <a:srgbClr val="000000">
                <a:alpha val="50000"/>
              </a:srgbClr>
            </a:outerShdw>
          </a:effectLst>
        </p:spPr>
      </p:pic>
      <p:sp>
        <p:nvSpPr>
          <p:cNvPr id="198" name="Google Shape;198;p20"/>
          <p:cNvSpPr txBox="1"/>
          <p:nvPr/>
        </p:nvSpPr>
        <p:spPr>
          <a:xfrm>
            <a:off x="0" y="4842975"/>
            <a:ext cx="5904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2"/>
                </a:solidFill>
              </a:rPr>
              <a:t>Source: Fidelity.com as of November 24, 2024</a:t>
            </a:r>
            <a:endParaRPr sz="900">
              <a:solidFill>
                <a:schemeClr val="dk2"/>
              </a:solidFill>
            </a:endParaRPr>
          </a:p>
        </p:txBody>
      </p:sp>
      <p:sp>
        <p:nvSpPr>
          <p:cNvPr id="199" name="Google Shape;199;p20"/>
          <p:cNvSpPr txBox="1"/>
          <p:nvPr/>
        </p:nvSpPr>
        <p:spPr>
          <a:xfrm>
            <a:off x="3873825" y="1232025"/>
            <a:ext cx="2019600" cy="481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200" b="1">
                <a:solidFill>
                  <a:srgbClr val="0000FF"/>
                </a:solidFill>
              </a:rPr>
              <a:t>P/E			66.59</a:t>
            </a:r>
            <a:endParaRPr sz="1200" b="1">
              <a:solidFill>
                <a:srgbClr val="0000FF"/>
              </a:solidFill>
            </a:endParaRPr>
          </a:p>
          <a:p>
            <a:pPr marL="0" lvl="0" indent="0" algn="l" rtl="0">
              <a:spcBef>
                <a:spcPts val="0"/>
              </a:spcBef>
              <a:spcAft>
                <a:spcPts val="0"/>
              </a:spcAft>
              <a:buNone/>
            </a:pPr>
            <a:r>
              <a:rPr lang="en" sz="1200" b="1">
                <a:solidFill>
                  <a:srgbClr val="0000FF"/>
                </a:solidFill>
              </a:rPr>
              <a:t>Div Yield		0.03%</a:t>
            </a:r>
            <a:endParaRPr sz="1200" b="1">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1"/>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endParaRPr sz="2800">
              <a:solidFill>
                <a:schemeClr val="dk1"/>
              </a:solidFill>
            </a:endParaRPr>
          </a:p>
          <a:p>
            <a:pPr marL="0" lvl="0" indent="0" algn="l" rtl="0">
              <a:spcBef>
                <a:spcPts val="0"/>
              </a:spcBef>
              <a:spcAft>
                <a:spcPts val="1200"/>
              </a:spcAft>
              <a:buNone/>
            </a:pPr>
            <a:endParaRPr/>
          </a:p>
        </p:txBody>
      </p:sp>
      <p:pic>
        <p:nvPicPr>
          <p:cNvPr id="205" name="Google Shape;205;p21"/>
          <p:cNvPicPr preferRelativeResize="0"/>
          <p:nvPr/>
        </p:nvPicPr>
        <p:blipFill rotWithShape="1">
          <a:blip r:embed="rId3">
            <a:alphaModFix/>
          </a:blip>
          <a:srcRect/>
          <a:stretch/>
        </p:blipFill>
        <p:spPr>
          <a:xfrm>
            <a:off x="237744" y="496500"/>
            <a:ext cx="8439910" cy="4407409"/>
          </a:xfrm>
          <a:prstGeom prst="rect">
            <a:avLst/>
          </a:prstGeom>
          <a:noFill/>
          <a:ln>
            <a:noFill/>
          </a:ln>
          <a:effectLst>
            <a:outerShdw blurRad="57150" dist="171450" dir="3600000" algn="bl" rotWithShape="0">
              <a:srgbClr val="000000">
                <a:alpha val="50000"/>
              </a:srgbClr>
            </a:outerShdw>
          </a:effectLst>
        </p:spPr>
      </p:pic>
      <p:sp>
        <p:nvSpPr>
          <p:cNvPr id="206" name="Google Shape;206;p21"/>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45833"/>
              <a:buFont typeface="Arial"/>
              <a:buNone/>
            </a:pPr>
            <a:r>
              <a:rPr lang="en" b="1"/>
              <a:t>Financial Analysis: NVDA 5Y Comparative Stock Chart</a:t>
            </a:r>
            <a:endParaRPr b="1"/>
          </a:p>
          <a:p>
            <a:pPr marL="0" lvl="0" indent="0" algn="l" rtl="0">
              <a:spcBef>
                <a:spcPts val="0"/>
              </a:spcBef>
              <a:spcAft>
                <a:spcPts val="0"/>
              </a:spcAft>
              <a:buNone/>
            </a:pPr>
            <a:endParaRPr b="1"/>
          </a:p>
          <a:p>
            <a:pPr marL="0" lvl="0" indent="0" algn="l" rtl="0">
              <a:spcBef>
                <a:spcPts val="0"/>
              </a:spcBef>
              <a:spcAft>
                <a:spcPts val="0"/>
              </a:spcAft>
              <a:buClr>
                <a:schemeClr val="dk1"/>
              </a:buClr>
              <a:buSzPct val="45833"/>
              <a:buFont typeface="Arial"/>
              <a:buNone/>
            </a:pPr>
            <a:endParaRPr b="1"/>
          </a:p>
          <a:p>
            <a:pPr marL="0" lvl="0" indent="0" algn="l" rtl="0">
              <a:spcBef>
                <a:spcPts val="0"/>
              </a:spcBef>
              <a:spcAft>
                <a:spcPts val="0"/>
              </a:spcAft>
              <a:buNone/>
            </a:pPr>
            <a:endParaRPr b="1"/>
          </a:p>
        </p:txBody>
      </p:sp>
      <p:sp>
        <p:nvSpPr>
          <p:cNvPr id="207" name="Google Shape;207;p21"/>
          <p:cNvSpPr txBox="1"/>
          <p:nvPr/>
        </p:nvSpPr>
        <p:spPr>
          <a:xfrm>
            <a:off x="0" y="4842975"/>
            <a:ext cx="5904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2"/>
                </a:solidFill>
              </a:rPr>
              <a:t>Source: Fidelity.com as of November 24, 2024</a:t>
            </a:r>
            <a:endParaRPr sz="900">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slow">
        <p:push dir="r"/>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endParaRPr sz="2800">
              <a:solidFill>
                <a:schemeClr val="dk1"/>
              </a:solidFill>
            </a:endParaRPr>
          </a:p>
          <a:p>
            <a:pPr marL="0" lvl="0" indent="0" algn="l" rtl="0">
              <a:spcBef>
                <a:spcPts val="0"/>
              </a:spcBef>
              <a:spcAft>
                <a:spcPts val="1200"/>
              </a:spcAft>
              <a:buNone/>
            </a:pPr>
            <a:endParaRPr/>
          </a:p>
        </p:txBody>
      </p:sp>
      <p:sp>
        <p:nvSpPr>
          <p:cNvPr id="213" name="Google Shape;213;p22"/>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45833"/>
              <a:buFont typeface="Arial"/>
              <a:buNone/>
            </a:pPr>
            <a:r>
              <a:rPr lang="en" b="1"/>
              <a:t>Financial Analysis: NVDA 10Y Comparative Stock Chart</a:t>
            </a:r>
            <a:endParaRPr b="1"/>
          </a:p>
          <a:p>
            <a:pPr marL="0" lvl="0" indent="0" algn="l" rtl="0">
              <a:spcBef>
                <a:spcPts val="0"/>
              </a:spcBef>
              <a:spcAft>
                <a:spcPts val="0"/>
              </a:spcAft>
              <a:buNone/>
            </a:pPr>
            <a:endParaRPr b="1"/>
          </a:p>
          <a:p>
            <a:pPr marL="0" lvl="0" indent="0" algn="l" rtl="0">
              <a:spcBef>
                <a:spcPts val="0"/>
              </a:spcBef>
              <a:spcAft>
                <a:spcPts val="0"/>
              </a:spcAft>
              <a:buClr>
                <a:schemeClr val="dk1"/>
              </a:buClr>
              <a:buSzPct val="45833"/>
              <a:buFont typeface="Arial"/>
              <a:buNone/>
            </a:pPr>
            <a:endParaRPr b="1"/>
          </a:p>
          <a:p>
            <a:pPr marL="0" lvl="0" indent="0" algn="l" rtl="0">
              <a:spcBef>
                <a:spcPts val="0"/>
              </a:spcBef>
              <a:spcAft>
                <a:spcPts val="0"/>
              </a:spcAft>
              <a:buNone/>
            </a:pPr>
            <a:endParaRPr b="1"/>
          </a:p>
        </p:txBody>
      </p:sp>
      <p:pic>
        <p:nvPicPr>
          <p:cNvPr id="214" name="Google Shape;214;p22"/>
          <p:cNvPicPr preferRelativeResize="0"/>
          <p:nvPr/>
        </p:nvPicPr>
        <p:blipFill rotWithShape="1">
          <a:blip r:embed="rId3">
            <a:alphaModFix/>
          </a:blip>
          <a:srcRect/>
          <a:stretch/>
        </p:blipFill>
        <p:spPr>
          <a:xfrm>
            <a:off x="237744" y="493776"/>
            <a:ext cx="8439910" cy="4407408"/>
          </a:xfrm>
          <a:prstGeom prst="rect">
            <a:avLst/>
          </a:prstGeom>
          <a:noFill/>
          <a:ln>
            <a:noFill/>
          </a:ln>
          <a:effectLst>
            <a:outerShdw blurRad="57150" dist="171450" dir="3600000" algn="bl" rotWithShape="0">
              <a:srgbClr val="000000">
                <a:alpha val="50000"/>
              </a:srgbClr>
            </a:outerShdw>
          </a:effectLst>
        </p:spPr>
      </p:pic>
      <p:sp>
        <p:nvSpPr>
          <p:cNvPr id="215" name="Google Shape;215;p22"/>
          <p:cNvSpPr txBox="1"/>
          <p:nvPr/>
        </p:nvSpPr>
        <p:spPr>
          <a:xfrm>
            <a:off x="0" y="4842975"/>
            <a:ext cx="5904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2"/>
                </a:solidFill>
              </a:rPr>
              <a:t>Source: Fidelity.com as of November 24, 2024</a:t>
            </a:r>
            <a:endParaRPr sz="900" b="1">
              <a:solidFill>
                <a:schemeClr val="dk2"/>
              </a:solidFill>
            </a:endParaRPr>
          </a:p>
        </p:txBody>
      </p:sp>
      <p:pic>
        <p:nvPicPr>
          <p:cNvPr id="216" name="Google Shape;216;p22"/>
          <p:cNvPicPr preferRelativeResize="0"/>
          <p:nvPr/>
        </p:nvPicPr>
        <p:blipFill>
          <a:blip r:embed="rId4">
            <a:alphaModFix/>
          </a:blip>
          <a:stretch>
            <a:fillRect/>
          </a:stretch>
        </p:blipFill>
        <p:spPr>
          <a:xfrm>
            <a:off x="458625" y="968575"/>
            <a:ext cx="3526499" cy="1820900"/>
          </a:xfrm>
          <a:prstGeom prst="rect">
            <a:avLst/>
          </a:prstGeom>
          <a:noFill/>
          <a:ln>
            <a:noFill/>
          </a:ln>
        </p:spPr>
      </p:pic>
      <p:sp>
        <p:nvSpPr>
          <p:cNvPr id="217" name="Google Shape;217;p22"/>
          <p:cNvSpPr txBox="1"/>
          <p:nvPr/>
        </p:nvSpPr>
        <p:spPr>
          <a:xfrm>
            <a:off x="358700" y="2751575"/>
            <a:ext cx="4311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chemeClr val="dk1"/>
                </a:solidFill>
                <a:latin typeface="Lato"/>
                <a:ea typeface="Lato"/>
                <a:cs typeface="Lato"/>
                <a:sym typeface="Lato"/>
              </a:rPr>
              <a:t>Source: Functions of Organizations Marketing Presentation, Dr. Galit Ben-Joseph, Fall 2024</a:t>
            </a:r>
            <a:endParaRPr sz="800" b="1">
              <a:solidFill>
                <a:schemeClr val="dk1"/>
              </a:solidFill>
              <a:latin typeface="Lato"/>
              <a:ea typeface="Lato"/>
              <a:cs typeface="Lato"/>
              <a:sym typeface="Lato"/>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3"/>
          <p:cNvSpPr txBox="1">
            <a:spLocks noGrp="1"/>
          </p:cNvSpPr>
          <p:nvPr>
            <p:ph type="title"/>
          </p:nvPr>
        </p:nvSpPr>
        <p:spPr>
          <a:xfrm>
            <a:off x="1" y="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520" b="1"/>
              <a:t>Financial Analysis</a:t>
            </a:r>
            <a:endParaRPr sz="2520" b="1"/>
          </a:p>
        </p:txBody>
      </p:sp>
      <p:sp>
        <p:nvSpPr>
          <p:cNvPr id="223" name="Google Shape;223;p23"/>
          <p:cNvSpPr/>
          <p:nvPr/>
        </p:nvSpPr>
        <p:spPr>
          <a:xfrm>
            <a:off x="785100" y="780449"/>
            <a:ext cx="2415000" cy="4210800"/>
          </a:xfrm>
          <a:prstGeom prst="rect">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24" name="Google Shape;224;p23"/>
          <p:cNvSpPr/>
          <p:nvPr/>
        </p:nvSpPr>
        <p:spPr>
          <a:xfrm>
            <a:off x="713252" y="836225"/>
            <a:ext cx="2436000" cy="2393700"/>
          </a:xfrm>
          <a:prstGeom prst="rect">
            <a:avLst/>
          </a:prstGeom>
          <a:solidFill>
            <a:srgbClr val="FFFFFF"/>
          </a:solidFill>
          <a:ln w="19050" cap="flat" cmpd="sng">
            <a:solidFill>
              <a:srgbClr val="1D7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25" name="Google Shape;225;p23"/>
          <p:cNvSpPr/>
          <p:nvPr/>
        </p:nvSpPr>
        <p:spPr>
          <a:xfrm>
            <a:off x="850865" y="1685177"/>
            <a:ext cx="2158800" cy="58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Roboto"/>
                <a:ea typeface="Roboto"/>
                <a:cs typeface="Roboto"/>
                <a:sym typeface="Roboto"/>
              </a:rPr>
              <a:t>High P/E ratio of 66.59,</a:t>
            </a:r>
            <a:r>
              <a:rPr lang="en" sz="1200">
                <a:solidFill>
                  <a:schemeClr val="dk1"/>
                </a:solidFill>
                <a:latin typeface="Roboto"/>
                <a:ea typeface="Roboto"/>
                <a:cs typeface="Roboto"/>
                <a:sym typeface="Roboto"/>
              </a:rPr>
              <a:t> reflecting investor confidence in future growth.</a:t>
            </a:r>
            <a:endParaRPr sz="1200">
              <a:solidFill>
                <a:schemeClr val="dk1"/>
              </a:solidFill>
              <a:latin typeface="Roboto"/>
              <a:ea typeface="Roboto"/>
              <a:cs typeface="Roboto"/>
              <a:sym typeface="Roboto"/>
            </a:endParaRPr>
          </a:p>
        </p:txBody>
      </p:sp>
      <p:sp>
        <p:nvSpPr>
          <p:cNvPr id="226" name="Google Shape;226;p23"/>
          <p:cNvSpPr/>
          <p:nvPr/>
        </p:nvSpPr>
        <p:spPr>
          <a:xfrm>
            <a:off x="850778" y="960064"/>
            <a:ext cx="2158800" cy="64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chemeClr val="dk1"/>
                </a:solidFill>
                <a:latin typeface="Roboto"/>
                <a:ea typeface="Roboto"/>
                <a:cs typeface="Roboto"/>
                <a:sym typeface="Roboto"/>
              </a:rPr>
              <a:t>Growth</a:t>
            </a:r>
            <a:endParaRPr sz="3000">
              <a:solidFill>
                <a:schemeClr val="dk1"/>
              </a:solidFill>
              <a:latin typeface="Roboto Thin"/>
              <a:ea typeface="Roboto Thin"/>
              <a:cs typeface="Roboto Thin"/>
              <a:sym typeface="Roboto Thin"/>
            </a:endParaRPr>
          </a:p>
        </p:txBody>
      </p:sp>
      <p:sp>
        <p:nvSpPr>
          <p:cNvPr id="227" name="Google Shape;227;p23"/>
          <p:cNvSpPr/>
          <p:nvPr/>
        </p:nvSpPr>
        <p:spPr>
          <a:xfrm rot="5400000">
            <a:off x="1733615" y="3153069"/>
            <a:ext cx="374100" cy="330900"/>
          </a:xfrm>
          <a:prstGeom prst="rightArrow">
            <a:avLst>
              <a:gd name="adj1" fmla="val 34239"/>
              <a:gd name="adj2" fmla="val 57035"/>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28" name="Google Shape;228;p23"/>
          <p:cNvSpPr/>
          <p:nvPr/>
        </p:nvSpPr>
        <p:spPr>
          <a:xfrm>
            <a:off x="713352" y="3556817"/>
            <a:ext cx="2415000" cy="10431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Primarily a growth company, driven by high reinvestment in R&amp;D.</a:t>
            </a:r>
            <a:endParaRPr sz="1100">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Strong presence in expanding sectors like AI, gaming, and data centers.</a:t>
            </a:r>
            <a:endParaRPr sz="11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800">
              <a:solidFill>
                <a:schemeClr val="dk1"/>
              </a:solidFill>
              <a:latin typeface="Roboto"/>
              <a:ea typeface="Roboto"/>
              <a:cs typeface="Roboto"/>
              <a:sym typeface="Roboto"/>
            </a:endParaRPr>
          </a:p>
        </p:txBody>
      </p:sp>
      <p:sp>
        <p:nvSpPr>
          <p:cNvPr id="229" name="Google Shape;229;p23"/>
          <p:cNvSpPr/>
          <p:nvPr/>
        </p:nvSpPr>
        <p:spPr>
          <a:xfrm>
            <a:off x="3334325" y="780450"/>
            <a:ext cx="2415000" cy="4210800"/>
          </a:xfrm>
          <a:prstGeom prst="rect">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0" name="Google Shape;230;p23"/>
          <p:cNvSpPr/>
          <p:nvPr/>
        </p:nvSpPr>
        <p:spPr>
          <a:xfrm>
            <a:off x="3262452" y="836217"/>
            <a:ext cx="2436000" cy="2393700"/>
          </a:xfrm>
          <a:prstGeom prst="rect">
            <a:avLst/>
          </a:prstGeom>
          <a:solidFill>
            <a:srgbClr val="FFFFFF"/>
          </a:solidFill>
          <a:ln w="19050" cap="flat" cmpd="sng">
            <a:solidFill>
              <a:srgbClr val="1D7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1" name="Google Shape;231;p23"/>
          <p:cNvSpPr/>
          <p:nvPr/>
        </p:nvSpPr>
        <p:spPr>
          <a:xfrm>
            <a:off x="3400065" y="1685168"/>
            <a:ext cx="2158800" cy="58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Medium-to-high risk, with a </a:t>
            </a:r>
            <a:r>
              <a:rPr lang="en" sz="1200" b="1">
                <a:solidFill>
                  <a:schemeClr val="dk1"/>
                </a:solidFill>
                <a:latin typeface="Roboto"/>
                <a:ea typeface="Roboto"/>
                <a:cs typeface="Roboto"/>
                <a:sym typeface="Roboto"/>
              </a:rPr>
              <a:t>beta of 3</a:t>
            </a:r>
            <a:r>
              <a:rPr lang="en" sz="1200">
                <a:solidFill>
                  <a:schemeClr val="dk1"/>
                </a:solidFill>
                <a:latin typeface="Roboto"/>
                <a:ea typeface="Roboto"/>
                <a:cs typeface="Roboto"/>
                <a:sym typeface="Roboto"/>
              </a:rPr>
              <a:t>, indicating volatility.</a:t>
            </a:r>
            <a:endParaRPr sz="1200">
              <a:solidFill>
                <a:schemeClr val="dk1"/>
              </a:solidFill>
              <a:latin typeface="Roboto"/>
              <a:ea typeface="Roboto"/>
              <a:cs typeface="Roboto"/>
              <a:sym typeface="Roboto"/>
            </a:endParaRPr>
          </a:p>
        </p:txBody>
      </p:sp>
      <p:sp>
        <p:nvSpPr>
          <p:cNvPr id="232" name="Google Shape;232;p23"/>
          <p:cNvSpPr/>
          <p:nvPr/>
        </p:nvSpPr>
        <p:spPr>
          <a:xfrm>
            <a:off x="3399978" y="960056"/>
            <a:ext cx="2158800" cy="64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chemeClr val="dk1"/>
                </a:solidFill>
                <a:latin typeface="Roboto"/>
                <a:ea typeface="Roboto"/>
                <a:cs typeface="Roboto"/>
                <a:sym typeface="Roboto"/>
              </a:rPr>
              <a:t>High Risk</a:t>
            </a:r>
            <a:endParaRPr sz="3000">
              <a:solidFill>
                <a:schemeClr val="dk1"/>
              </a:solidFill>
              <a:latin typeface="Roboto Thin"/>
              <a:ea typeface="Roboto Thin"/>
              <a:cs typeface="Roboto Thin"/>
              <a:sym typeface="Roboto Thin"/>
            </a:endParaRPr>
          </a:p>
        </p:txBody>
      </p:sp>
      <p:sp>
        <p:nvSpPr>
          <p:cNvPr id="233" name="Google Shape;233;p23"/>
          <p:cNvSpPr/>
          <p:nvPr/>
        </p:nvSpPr>
        <p:spPr>
          <a:xfrm rot="5400000">
            <a:off x="4282815" y="3153060"/>
            <a:ext cx="374100" cy="330900"/>
          </a:xfrm>
          <a:prstGeom prst="rightArrow">
            <a:avLst>
              <a:gd name="adj1" fmla="val 34239"/>
              <a:gd name="adj2" fmla="val 57035"/>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4" name="Google Shape;234;p23"/>
          <p:cNvSpPr/>
          <p:nvPr/>
        </p:nvSpPr>
        <p:spPr>
          <a:xfrm>
            <a:off x="3262552" y="3556808"/>
            <a:ext cx="2415000" cy="10431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Exposed to volatile markets (gaming, crypto, AI), but supported by strong cash flow and leadership.</a:t>
            </a:r>
            <a:endParaRPr sz="1100">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Rising competition in AI and data centers could add pressure.</a:t>
            </a:r>
            <a:endParaRPr sz="11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100">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800">
              <a:solidFill>
                <a:schemeClr val="dk1"/>
              </a:solidFill>
              <a:latin typeface="Roboto"/>
              <a:ea typeface="Roboto"/>
              <a:cs typeface="Roboto"/>
              <a:sym typeface="Roboto"/>
            </a:endParaRPr>
          </a:p>
        </p:txBody>
      </p:sp>
      <p:sp>
        <p:nvSpPr>
          <p:cNvPr id="235" name="Google Shape;235;p23"/>
          <p:cNvSpPr/>
          <p:nvPr/>
        </p:nvSpPr>
        <p:spPr>
          <a:xfrm>
            <a:off x="5883550" y="780450"/>
            <a:ext cx="2415000" cy="4210800"/>
          </a:xfrm>
          <a:prstGeom prst="rect">
            <a:avLst/>
          </a:prstGeom>
          <a:solidFill>
            <a:srgbClr val="76B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6" name="Google Shape;236;p23"/>
          <p:cNvSpPr/>
          <p:nvPr/>
        </p:nvSpPr>
        <p:spPr>
          <a:xfrm>
            <a:off x="5811677" y="836217"/>
            <a:ext cx="2436000" cy="2393700"/>
          </a:xfrm>
          <a:prstGeom prst="rect">
            <a:avLst/>
          </a:prstGeom>
          <a:solidFill>
            <a:srgbClr val="FFFFFF"/>
          </a:solidFill>
          <a:ln w="19050" cap="flat" cmpd="sng">
            <a:solidFill>
              <a:srgbClr val="1D7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7" name="Google Shape;237;p23"/>
          <p:cNvSpPr/>
          <p:nvPr/>
        </p:nvSpPr>
        <p:spPr>
          <a:xfrm>
            <a:off x="5949290" y="1685168"/>
            <a:ext cx="2158800" cy="58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Roboto"/>
                <a:ea typeface="Roboto"/>
                <a:cs typeface="Roboto"/>
                <a:sym typeface="Roboto"/>
              </a:rPr>
              <a:t>BUY for long-term, growth-oriented investors. </a:t>
            </a:r>
            <a:r>
              <a:rPr lang="en" sz="1200">
                <a:solidFill>
                  <a:schemeClr val="dk1"/>
                </a:solidFill>
                <a:latin typeface="Roboto"/>
                <a:ea typeface="Roboto"/>
                <a:cs typeface="Roboto"/>
                <a:sym typeface="Roboto"/>
              </a:rPr>
              <a:t>Investors should be comfortable with potential stock price fluctuations.</a:t>
            </a:r>
            <a:endParaRPr sz="1200">
              <a:solidFill>
                <a:schemeClr val="dk1"/>
              </a:solidFill>
              <a:latin typeface="Roboto"/>
              <a:ea typeface="Roboto"/>
              <a:cs typeface="Roboto"/>
              <a:sym typeface="Roboto"/>
            </a:endParaRPr>
          </a:p>
        </p:txBody>
      </p:sp>
      <p:sp>
        <p:nvSpPr>
          <p:cNvPr id="238" name="Google Shape;238;p23"/>
          <p:cNvSpPr/>
          <p:nvPr/>
        </p:nvSpPr>
        <p:spPr>
          <a:xfrm>
            <a:off x="5949203" y="960056"/>
            <a:ext cx="2158800" cy="64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chemeClr val="dk1"/>
                </a:solidFill>
                <a:latin typeface="Roboto"/>
                <a:ea typeface="Roboto"/>
                <a:cs typeface="Roboto"/>
                <a:sym typeface="Roboto"/>
              </a:rPr>
              <a:t>Buy</a:t>
            </a:r>
            <a:endParaRPr sz="3000">
              <a:solidFill>
                <a:schemeClr val="dk1"/>
              </a:solidFill>
              <a:latin typeface="Roboto Thin"/>
              <a:ea typeface="Roboto Thin"/>
              <a:cs typeface="Roboto Thin"/>
              <a:sym typeface="Roboto Thin"/>
            </a:endParaRPr>
          </a:p>
        </p:txBody>
      </p:sp>
      <p:sp>
        <p:nvSpPr>
          <p:cNvPr id="239" name="Google Shape;239;p23"/>
          <p:cNvSpPr/>
          <p:nvPr/>
        </p:nvSpPr>
        <p:spPr>
          <a:xfrm rot="5400000">
            <a:off x="6832040" y="3153060"/>
            <a:ext cx="374100" cy="330900"/>
          </a:xfrm>
          <a:prstGeom prst="rightArrow">
            <a:avLst>
              <a:gd name="adj1" fmla="val 34239"/>
              <a:gd name="adj2" fmla="val 57035"/>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40" name="Google Shape;240;p23"/>
          <p:cNvSpPr/>
          <p:nvPr/>
        </p:nvSpPr>
        <p:spPr>
          <a:xfrm>
            <a:off x="5811777" y="3556808"/>
            <a:ext cx="2415000" cy="10431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High valuation favors long-term investment to capture growth.</a:t>
            </a:r>
            <a:endParaRPr sz="1100">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Strong return potential if NVIDIA retains innovation lead in AI and data centers.</a:t>
            </a:r>
            <a:endParaRPr sz="11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800">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8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244"/>
        <p:cNvGrpSpPr/>
        <p:nvPr/>
      </p:nvGrpSpPr>
      <p:grpSpPr>
        <a:xfrm>
          <a:off x="0" y="0"/>
          <a:ext cx="0" cy="0"/>
          <a:chOff x="0" y="0"/>
          <a:chExt cx="0" cy="0"/>
        </a:xfrm>
      </p:grpSpPr>
      <p:sp>
        <p:nvSpPr>
          <p:cNvPr id="245" name="Google Shape;245;p24"/>
          <p:cNvSpPr/>
          <p:nvPr/>
        </p:nvSpPr>
        <p:spPr>
          <a:xfrm>
            <a:off x="942925" y="1251350"/>
            <a:ext cx="7239000" cy="3737400"/>
          </a:xfrm>
          <a:prstGeom prst="rect">
            <a:avLst/>
          </a:prstGeom>
          <a:solidFill>
            <a:srgbClr val="666666"/>
          </a:solidFill>
          <a:ln w="9525" cap="flat" cmpd="sng">
            <a:solidFill>
              <a:schemeClr val="dk2"/>
            </a:solidFill>
            <a:prstDash val="solid"/>
            <a:round/>
            <a:headEnd type="none" w="sm" len="sm"/>
            <a:tailEnd type="none" w="sm" len="sm"/>
          </a:ln>
          <a:effectLst>
            <a:outerShdw blurRad="57150" dist="171450" dir="36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aphicFrame>
        <p:nvGraphicFramePr>
          <p:cNvPr id="246" name="Google Shape;246;p24"/>
          <p:cNvGraphicFramePr/>
          <p:nvPr/>
        </p:nvGraphicFramePr>
        <p:xfrm>
          <a:off x="952500" y="2190750"/>
          <a:ext cx="7239000" cy="2437450"/>
        </p:xfrm>
        <a:graphic>
          <a:graphicData uri="http://schemas.openxmlformats.org/drawingml/2006/table">
            <a:tbl>
              <a:tblPr>
                <a:noFill/>
                <a:tableStyleId>{B73E1456-810C-4BC4-BACF-9C0A923D4350}</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218725">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0"/>
                  </a:ext>
                </a:extLst>
              </a:tr>
              <a:tr h="1218725">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1"/>
                  </a:ext>
                </a:extLst>
              </a:tr>
            </a:tbl>
          </a:graphicData>
        </a:graphic>
      </p:graphicFrame>
      <p:sp>
        <p:nvSpPr>
          <p:cNvPr id="247" name="Google Shape;247;p24"/>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t>Strategic Plan</a:t>
            </a:r>
            <a:endParaRPr b="1"/>
          </a:p>
        </p:txBody>
      </p:sp>
      <p:grpSp>
        <p:nvGrpSpPr>
          <p:cNvPr id="248" name="Google Shape;248;p24"/>
          <p:cNvGrpSpPr/>
          <p:nvPr/>
        </p:nvGrpSpPr>
        <p:grpSpPr>
          <a:xfrm>
            <a:off x="952468" y="1240801"/>
            <a:ext cx="7238985" cy="3737244"/>
            <a:chOff x="1178629" y="283725"/>
            <a:chExt cx="2030400" cy="4076400"/>
          </a:xfrm>
        </p:grpSpPr>
        <p:sp>
          <p:nvSpPr>
            <p:cNvPr id="249" name="Google Shape;249;p24"/>
            <p:cNvSpPr/>
            <p:nvPr/>
          </p:nvSpPr>
          <p:spPr>
            <a:xfrm>
              <a:off x="1178629" y="283725"/>
              <a:ext cx="2030400" cy="4076400"/>
            </a:xfrm>
            <a:prstGeom prst="rect">
              <a:avLst/>
            </a:prstGeom>
            <a:solidFill>
              <a:srgbClr val="76B900"/>
            </a:solidFill>
            <a:ln>
              <a:noFill/>
            </a:ln>
            <a:effectLst>
              <a:outerShdw blurRad="57150" dist="19050" dir="3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50" name="Google Shape;250;p24"/>
            <p:cNvSpPr/>
            <p:nvPr/>
          </p:nvSpPr>
          <p:spPr>
            <a:xfrm>
              <a:off x="1256169" y="340553"/>
              <a:ext cx="1815000" cy="675000"/>
            </a:xfrm>
            <a:prstGeom prst="rect">
              <a:avLst/>
            </a:prstGeom>
            <a:noFill/>
            <a:ln>
              <a:noFill/>
            </a:ln>
            <a:effectLst>
              <a:outerShdw blurRad="57150" dist="19050" dir="360000" algn="bl" rotWithShape="0">
                <a:srgbClr val="000000">
                  <a:alpha val="5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dk1"/>
                  </a:solidFill>
                </a:rPr>
                <a:t>Ansoff Product vs. Market Matrix</a:t>
              </a:r>
              <a:endParaRPr sz="2000" b="1">
                <a:solidFill>
                  <a:schemeClr val="dk1"/>
                </a:solidFill>
              </a:endParaRPr>
            </a:p>
            <a:p>
              <a:pPr marL="0" lvl="0" indent="0" algn="ctr" rtl="0">
                <a:spcBef>
                  <a:spcPts val="0"/>
                </a:spcBef>
                <a:spcAft>
                  <a:spcPts val="0"/>
                </a:spcAft>
                <a:buNone/>
              </a:pPr>
              <a:endParaRPr sz="2800" b="1">
                <a:solidFill>
                  <a:schemeClr val="dk1"/>
                </a:solidFill>
                <a:latin typeface="Roboto"/>
                <a:ea typeface="Roboto"/>
                <a:cs typeface="Roboto"/>
                <a:sym typeface="Roboto"/>
              </a:endParaRPr>
            </a:p>
          </p:txBody>
        </p:sp>
      </p:grpSp>
      <p:graphicFrame>
        <p:nvGraphicFramePr>
          <p:cNvPr id="251" name="Google Shape;251;p24"/>
          <p:cNvGraphicFramePr/>
          <p:nvPr/>
        </p:nvGraphicFramePr>
        <p:xfrm>
          <a:off x="952500" y="1240800"/>
          <a:ext cx="7239000" cy="3737400"/>
        </p:xfrm>
        <a:graphic>
          <a:graphicData uri="http://schemas.openxmlformats.org/drawingml/2006/table">
            <a:tbl>
              <a:tblPr>
                <a:noFill/>
                <a:tableStyleId>{B73E1456-810C-4BC4-BACF-9C0A923D4350}</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845900">
                <a:tc>
                  <a:txBody>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sz="1500"/>
                        <a:t>Market penetration is a lower-risk strategy that allows NVIDIA to consolidate and expand its leadership in its current markets</a:t>
                      </a:r>
                      <a:endParaRPr sz="1500"/>
                    </a:p>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br>
                        <a:rPr lang="en"/>
                      </a:br>
                      <a:endParaRPr/>
                    </a:p>
                    <a:p>
                      <a:pPr marL="0" lvl="0" indent="0" algn="l" rtl="0">
                        <a:spcBef>
                          <a:spcPts val="0"/>
                        </a:spcBef>
                        <a:spcAft>
                          <a:spcPts val="1000"/>
                        </a:spcAft>
                        <a:buNone/>
                      </a:pPr>
                      <a:r>
                        <a:rPr lang="en" sz="1500">
                          <a:solidFill>
                            <a:schemeClr val="dk1"/>
                          </a:solidFill>
                        </a:rPr>
                        <a:t>‘All in’ on new product development by iterating with Blackwell chips – continue this to remain 2 years ahead of rivals</a:t>
                      </a:r>
                      <a:endParaRPr>
                        <a:solidFill>
                          <a:schemeClr val="dk1"/>
                        </a:solidFill>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0"/>
                  </a:ext>
                </a:extLst>
              </a:tr>
              <a:tr h="1891500">
                <a:tc>
                  <a:txBody>
                    <a:bodyPr/>
                    <a:lstStyle/>
                    <a:p>
                      <a:pPr marL="0" lvl="0" indent="0" algn="l" rtl="0">
                        <a:spcBef>
                          <a:spcPts val="0"/>
                        </a:spcBef>
                        <a:spcAft>
                          <a:spcPts val="0"/>
                        </a:spcAft>
                        <a:buNone/>
                      </a:pP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Involves higher risks and should take a secondary priority to market penetration and product development.</a:t>
                      </a:r>
                      <a:endParaRPr sz="1500"/>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b="1">
                          <a:solidFill>
                            <a:schemeClr val="dk1"/>
                          </a:solidFill>
                        </a:rPr>
                        <a:t>Related diversification</a:t>
                      </a:r>
                      <a:r>
                        <a:rPr lang="en" sz="1500">
                          <a:solidFill>
                            <a:schemeClr val="dk1"/>
                          </a:solidFill>
                        </a:rPr>
                        <a:t> by leveraging its expertise in GPUs and AI to expand into high-growth markets like autonomous vehicles, robotics, and edge computing, </a:t>
                      </a:r>
                      <a:endParaRPr sz="1500"/>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1"/>
                  </a:ext>
                </a:extLst>
              </a:tr>
            </a:tbl>
          </a:graphicData>
        </a:graphic>
      </p:graphicFrame>
      <p:sp>
        <p:nvSpPr>
          <p:cNvPr id="252" name="Google Shape;252;p24"/>
          <p:cNvSpPr/>
          <p:nvPr/>
        </p:nvSpPr>
        <p:spPr>
          <a:xfrm>
            <a:off x="544500" y="1202175"/>
            <a:ext cx="1938300" cy="3591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Market Penetration</a:t>
            </a:r>
            <a:endParaRPr/>
          </a:p>
        </p:txBody>
      </p:sp>
      <p:sp>
        <p:nvSpPr>
          <p:cNvPr id="253" name="Google Shape;253;p24"/>
          <p:cNvSpPr/>
          <p:nvPr/>
        </p:nvSpPr>
        <p:spPr>
          <a:xfrm>
            <a:off x="6929325" y="1202175"/>
            <a:ext cx="1938300" cy="3591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Product Development</a:t>
            </a:r>
            <a:endParaRPr/>
          </a:p>
        </p:txBody>
      </p:sp>
      <p:sp>
        <p:nvSpPr>
          <p:cNvPr id="254" name="Google Shape;254;p24"/>
          <p:cNvSpPr/>
          <p:nvPr/>
        </p:nvSpPr>
        <p:spPr>
          <a:xfrm>
            <a:off x="544500" y="2934500"/>
            <a:ext cx="1938300" cy="3591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Market Development</a:t>
            </a:r>
            <a:endParaRPr/>
          </a:p>
        </p:txBody>
      </p:sp>
      <p:sp>
        <p:nvSpPr>
          <p:cNvPr id="255" name="Google Shape;255;p24"/>
          <p:cNvSpPr/>
          <p:nvPr/>
        </p:nvSpPr>
        <p:spPr>
          <a:xfrm>
            <a:off x="6929325" y="2934500"/>
            <a:ext cx="1938300" cy="3591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Diversification</a:t>
            </a:r>
            <a:endParaRPr/>
          </a:p>
        </p:txBody>
      </p:sp>
      <p:sp>
        <p:nvSpPr>
          <p:cNvPr id="256" name="Google Shape;256;p24"/>
          <p:cNvSpPr/>
          <p:nvPr/>
        </p:nvSpPr>
        <p:spPr>
          <a:xfrm>
            <a:off x="4572025" y="1713825"/>
            <a:ext cx="3619500" cy="11940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257;p24"/>
          <p:cNvSpPr/>
          <p:nvPr/>
        </p:nvSpPr>
        <p:spPr>
          <a:xfrm>
            <a:off x="952500" y="3409475"/>
            <a:ext cx="3619500" cy="1194000"/>
          </a:xfrm>
          <a:prstGeom prst="roundRect">
            <a:avLst>
              <a:gd name="adj" fmla="val 16667"/>
            </a:avLst>
          </a:prstGeom>
          <a:noFill/>
          <a:ln w="28575" cap="flat" cmpd="sng">
            <a:solidFill>
              <a:srgbClr val="FF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5"/>
          <p:cNvSpPr/>
          <p:nvPr/>
        </p:nvSpPr>
        <p:spPr>
          <a:xfrm>
            <a:off x="942925" y="1098950"/>
            <a:ext cx="7239000" cy="3737400"/>
          </a:xfrm>
          <a:prstGeom prst="rect">
            <a:avLst/>
          </a:prstGeom>
          <a:solidFill>
            <a:srgbClr val="666666"/>
          </a:solidFill>
          <a:ln w="9525" cap="flat" cmpd="sng">
            <a:solidFill>
              <a:schemeClr val="dk2"/>
            </a:solidFill>
            <a:prstDash val="solid"/>
            <a:round/>
            <a:headEnd type="none" w="sm" len="sm"/>
            <a:tailEnd type="none" w="sm" len="sm"/>
          </a:ln>
          <a:effectLst>
            <a:outerShdw blurRad="57150" dist="171450" dir="36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aphicFrame>
        <p:nvGraphicFramePr>
          <p:cNvPr id="263" name="Google Shape;263;p25"/>
          <p:cNvGraphicFramePr/>
          <p:nvPr/>
        </p:nvGraphicFramePr>
        <p:xfrm>
          <a:off x="952500" y="2038350"/>
          <a:ext cx="7239000" cy="2437450"/>
        </p:xfrm>
        <a:graphic>
          <a:graphicData uri="http://schemas.openxmlformats.org/drawingml/2006/table">
            <a:tbl>
              <a:tblPr>
                <a:noFill/>
                <a:tableStyleId>{B73E1456-810C-4BC4-BACF-9C0A923D4350}</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218725">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0"/>
                  </a:ext>
                </a:extLst>
              </a:tr>
              <a:tr h="1218725">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1"/>
                  </a:ext>
                </a:extLst>
              </a:tr>
            </a:tbl>
          </a:graphicData>
        </a:graphic>
      </p:graphicFrame>
      <p:sp>
        <p:nvSpPr>
          <p:cNvPr id="264" name="Google Shape;264;p25"/>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t>Strategic Plan</a:t>
            </a:r>
            <a:endParaRPr b="1"/>
          </a:p>
        </p:txBody>
      </p:sp>
      <p:grpSp>
        <p:nvGrpSpPr>
          <p:cNvPr id="265" name="Google Shape;265;p25"/>
          <p:cNvGrpSpPr/>
          <p:nvPr/>
        </p:nvGrpSpPr>
        <p:grpSpPr>
          <a:xfrm>
            <a:off x="952468" y="1088401"/>
            <a:ext cx="7238985" cy="3737244"/>
            <a:chOff x="1178629" y="283725"/>
            <a:chExt cx="2030400" cy="4076400"/>
          </a:xfrm>
        </p:grpSpPr>
        <p:sp>
          <p:nvSpPr>
            <p:cNvPr id="266" name="Google Shape;266;p25"/>
            <p:cNvSpPr/>
            <p:nvPr/>
          </p:nvSpPr>
          <p:spPr>
            <a:xfrm>
              <a:off x="1178629" y="283725"/>
              <a:ext cx="2030400" cy="4076400"/>
            </a:xfrm>
            <a:prstGeom prst="rect">
              <a:avLst/>
            </a:prstGeom>
            <a:solidFill>
              <a:srgbClr val="76B900"/>
            </a:solidFill>
            <a:ln>
              <a:noFill/>
            </a:ln>
            <a:effectLst>
              <a:outerShdw blurRad="57150" dist="19050" dir="3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7" name="Google Shape;267;p25"/>
            <p:cNvSpPr/>
            <p:nvPr/>
          </p:nvSpPr>
          <p:spPr>
            <a:xfrm>
              <a:off x="1256169" y="340553"/>
              <a:ext cx="1815000" cy="675000"/>
            </a:xfrm>
            <a:prstGeom prst="rect">
              <a:avLst/>
            </a:prstGeom>
            <a:noFill/>
            <a:ln>
              <a:noFill/>
            </a:ln>
            <a:effectLst>
              <a:outerShdw blurRad="57150" dist="19050" dir="360000" algn="bl" rotWithShape="0">
                <a:srgbClr val="000000">
                  <a:alpha val="5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dk1"/>
                  </a:solidFill>
                </a:rPr>
                <a:t>Ansoff Product vs. Market Matrix</a:t>
              </a:r>
              <a:endParaRPr sz="2000" b="1">
                <a:solidFill>
                  <a:schemeClr val="dk1"/>
                </a:solidFill>
              </a:endParaRPr>
            </a:p>
            <a:p>
              <a:pPr marL="0" lvl="0" indent="0" algn="ctr" rtl="0">
                <a:spcBef>
                  <a:spcPts val="0"/>
                </a:spcBef>
                <a:spcAft>
                  <a:spcPts val="0"/>
                </a:spcAft>
                <a:buNone/>
              </a:pPr>
              <a:endParaRPr sz="2800" b="1">
                <a:solidFill>
                  <a:schemeClr val="dk1"/>
                </a:solidFill>
                <a:latin typeface="Roboto"/>
                <a:ea typeface="Roboto"/>
                <a:cs typeface="Roboto"/>
                <a:sym typeface="Roboto"/>
              </a:endParaRPr>
            </a:p>
          </p:txBody>
        </p:sp>
      </p:grpSp>
      <p:sp>
        <p:nvSpPr>
          <p:cNvPr id="268" name="Google Shape;268;p25"/>
          <p:cNvSpPr/>
          <p:nvPr/>
        </p:nvSpPr>
        <p:spPr>
          <a:xfrm>
            <a:off x="4572025" y="1561425"/>
            <a:ext cx="3619500" cy="11940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25"/>
          <p:cNvSpPr/>
          <p:nvPr/>
        </p:nvSpPr>
        <p:spPr>
          <a:xfrm>
            <a:off x="952500" y="3257075"/>
            <a:ext cx="3619500" cy="1194000"/>
          </a:xfrm>
          <a:prstGeom prst="roundRect">
            <a:avLst>
              <a:gd name="adj" fmla="val 16667"/>
            </a:avLst>
          </a:prstGeom>
          <a:noFill/>
          <a:ln w="28575" cap="flat" cmpd="sng">
            <a:solidFill>
              <a:srgbClr val="FF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0" name="Google Shape;270;p25"/>
          <p:cNvSpPr/>
          <p:nvPr/>
        </p:nvSpPr>
        <p:spPr>
          <a:xfrm>
            <a:off x="7225725" y="141675"/>
            <a:ext cx="1809600" cy="572700"/>
          </a:xfrm>
          <a:prstGeom prst="wedgeEllipseCallout">
            <a:avLst>
              <a:gd name="adj1" fmla="val -63015"/>
              <a:gd name="adj2" fmla="val 172857"/>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Lato"/>
                <a:ea typeface="Lato"/>
                <a:cs typeface="Lato"/>
                <a:sym typeface="Lato"/>
              </a:rPr>
              <a:t>Product Development</a:t>
            </a:r>
            <a:endParaRPr b="1">
              <a:solidFill>
                <a:schemeClr val="dk1"/>
              </a:solidFill>
              <a:latin typeface="Lato"/>
              <a:ea typeface="Lato"/>
              <a:cs typeface="Lato"/>
              <a:sym typeface="Lato"/>
            </a:endParaRPr>
          </a:p>
        </p:txBody>
      </p:sp>
      <p:sp>
        <p:nvSpPr>
          <p:cNvPr id="271" name="Google Shape;271;p25"/>
          <p:cNvSpPr/>
          <p:nvPr/>
        </p:nvSpPr>
        <p:spPr>
          <a:xfrm>
            <a:off x="0" y="4494600"/>
            <a:ext cx="1809600" cy="572700"/>
          </a:xfrm>
          <a:prstGeom prst="wedgeEllipseCallout">
            <a:avLst>
              <a:gd name="adj1" fmla="val 95199"/>
              <a:gd name="adj2" fmla="val -77685"/>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Lato"/>
                <a:ea typeface="Lato"/>
                <a:cs typeface="Lato"/>
                <a:sym typeface="Lato"/>
              </a:rPr>
              <a:t>Market Development</a:t>
            </a:r>
            <a:endParaRPr b="1">
              <a:solidFill>
                <a:schemeClr val="dk1"/>
              </a:solidFill>
              <a:latin typeface="Lato"/>
              <a:ea typeface="Lato"/>
              <a:cs typeface="Lato"/>
              <a:sym typeface="Lato"/>
            </a:endParaRPr>
          </a:p>
        </p:txBody>
      </p:sp>
      <p:sp>
        <p:nvSpPr>
          <p:cNvPr id="272" name="Google Shape;272;p25"/>
          <p:cNvSpPr/>
          <p:nvPr/>
        </p:nvSpPr>
        <p:spPr>
          <a:xfrm>
            <a:off x="66225" y="790575"/>
            <a:ext cx="1809600" cy="572700"/>
          </a:xfrm>
          <a:prstGeom prst="wedgeEllipseCallout">
            <a:avLst>
              <a:gd name="adj1" fmla="val 63223"/>
              <a:gd name="adj2" fmla="val 62018"/>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Lato"/>
                <a:ea typeface="Lato"/>
                <a:cs typeface="Lato"/>
                <a:sym typeface="Lato"/>
              </a:rPr>
              <a:t>Market Penetration</a:t>
            </a:r>
            <a:endParaRPr b="1">
              <a:solidFill>
                <a:schemeClr val="dk1"/>
              </a:solidFill>
              <a:latin typeface="Lato"/>
              <a:ea typeface="Lato"/>
              <a:cs typeface="Lato"/>
              <a:sym typeface="Lato"/>
            </a:endParaRPr>
          </a:p>
        </p:txBody>
      </p:sp>
      <p:sp>
        <p:nvSpPr>
          <p:cNvPr id="273" name="Google Shape;273;p25"/>
          <p:cNvSpPr/>
          <p:nvPr/>
        </p:nvSpPr>
        <p:spPr>
          <a:xfrm rot="-920006">
            <a:off x="7334433" y="4570730"/>
            <a:ext cx="1809513" cy="572702"/>
          </a:xfrm>
          <a:prstGeom prst="wedgeEllipseCallout">
            <a:avLst>
              <a:gd name="adj1" fmla="val -104690"/>
              <a:gd name="adj2" fmla="val -145867"/>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dk1"/>
                </a:solidFill>
                <a:latin typeface="Lato"/>
                <a:ea typeface="Lato"/>
                <a:cs typeface="Lato"/>
                <a:sym typeface="Lato"/>
              </a:rPr>
              <a:t>Diversification</a:t>
            </a:r>
            <a:endParaRPr sz="1300" b="1">
              <a:solidFill>
                <a:schemeClr val="dk1"/>
              </a:solidFill>
              <a:latin typeface="Lato"/>
              <a:ea typeface="Lato"/>
              <a:cs typeface="Lato"/>
              <a:sym typeface="Lato"/>
            </a:endParaRPr>
          </a:p>
        </p:txBody>
      </p:sp>
      <p:graphicFrame>
        <p:nvGraphicFramePr>
          <p:cNvPr id="274" name="Google Shape;274;p25"/>
          <p:cNvGraphicFramePr/>
          <p:nvPr/>
        </p:nvGraphicFramePr>
        <p:xfrm>
          <a:off x="952500" y="1088400"/>
          <a:ext cx="7239000" cy="3737400"/>
        </p:xfrm>
        <a:graphic>
          <a:graphicData uri="http://schemas.openxmlformats.org/drawingml/2006/table">
            <a:tbl>
              <a:tblPr>
                <a:noFill/>
                <a:tableStyleId>{B73E1456-810C-4BC4-BACF-9C0A923D4350}</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845900">
                <a:tc>
                  <a:txBody>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sz="1500"/>
                        <a:t>Market penetration is a lower-risk strategy that allows NVIDIA to consolidate and expand its leadership in its current markets</a:t>
                      </a:r>
                      <a:endParaRPr sz="1500"/>
                    </a:p>
                    <a:p>
                      <a:pPr marL="0" lvl="0" indent="0" algn="l" rtl="0">
                        <a:spcBef>
                          <a:spcPts val="0"/>
                        </a:spcBef>
                        <a:spcAft>
                          <a:spcPts val="0"/>
                        </a:spcAft>
                        <a:buNone/>
                      </a:pPr>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br>
                        <a:rPr lang="en"/>
                      </a:br>
                      <a:endParaRPr/>
                    </a:p>
                    <a:p>
                      <a:pPr marL="0" lvl="0" indent="0" algn="l" rtl="0">
                        <a:spcBef>
                          <a:spcPts val="0"/>
                        </a:spcBef>
                        <a:spcAft>
                          <a:spcPts val="1000"/>
                        </a:spcAft>
                        <a:buNone/>
                      </a:pPr>
                      <a:r>
                        <a:rPr lang="en" sz="1500">
                          <a:solidFill>
                            <a:schemeClr val="dk1"/>
                          </a:solidFill>
                        </a:rPr>
                        <a:t>‘All in’ on new product development by iterating with Blackwell chips – continue this to remain 2 years ahead of rivals</a:t>
                      </a:r>
                      <a:endParaRPr>
                        <a:solidFill>
                          <a:schemeClr val="dk1"/>
                        </a:solidFill>
                      </a:endParaRPr>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0"/>
                  </a:ext>
                </a:extLst>
              </a:tr>
              <a:tr h="1891500">
                <a:tc>
                  <a:txBody>
                    <a:bodyPr/>
                    <a:lstStyle/>
                    <a:p>
                      <a:pPr marL="0" lvl="0" indent="0" algn="l" rtl="0">
                        <a:spcBef>
                          <a:spcPts val="0"/>
                        </a:spcBef>
                        <a:spcAft>
                          <a:spcPts val="0"/>
                        </a:spcAft>
                        <a:buNone/>
                      </a:pP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Involves higher risks and should take a secondary priority to market penetration and product development.</a:t>
                      </a:r>
                      <a:endParaRPr sz="1500"/>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tc>
                  <a:txBody>
                    <a:bodyPr/>
                    <a:lstStyle/>
                    <a:p>
                      <a:pPr marL="0" lvl="0" indent="0" algn="l" rtl="0">
                        <a:spcBef>
                          <a:spcPts val="0"/>
                        </a:spcBef>
                        <a:spcAft>
                          <a:spcPts val="0"/>
                        </a:spcAft>
                        <a:buNone/>
                      </a:pP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b="1">
                          <a:solidFill>
                            <a:schemeClr val="dk1"/>
                          </a:solidFill>
                        </a:rPr>
                        <a:t>Related diversification</a:t>
                      </a:r>
                      <a:r>
                        <a:rPr lang="en" sz="1500">
                          <a:solidFill>
                            <a:schemeClr val="dk1"/>
                          </a:solidFill>
                        </a:rPr>
                        <a:t> by leveraging its expertise in GPUs and AI to expand into high-growth markets like autonomous vehicles, robotics, and edge computing, </a:t>
                      </a:r>
                      <a:endParaRPr sz="1500"/>
                    </a:p>
                  </a:txBody>
                  <a:tcPr marL="91425" marR="91425" marT="91425" marB="91425">
                    <a:lnL w="19050" cap="flat" cmpd="sng">
                      <a:solidFill>
                        <a:schemeClr val="dk1"/>
                      </a:solidFill>
                      <a:prstDash val="lgDash"/>
                      <a:round/>
                      <a:headEnd type="none" w="sm" len="sm"/>
                      <a:tailEnd type="none" w="sm" len="sm"/>
                    </a:lnL>
                    <a:lnR w="19050" cap="flat" cmpd="sng">
                      <a:solidFill>
                        <a:schemeClr val="dk1"/>
                      </a:solidFill>
                      <a:prstDash val="lgDash"/>
                      <a:round/>
                      <a:headEnd type="none" w="sm" len="sm"/>
                      <a:tailEnd type="none" w="sm" len="sm"/>
                    </a:lnR>
                    <a:lnT w="19050" cap="flat" cmpd="sng">
                      <a:solidFill>
                        <a:schemeClr val="dk1"/>
                      </a:solidFill>
                      <a:prstDash val="lgDash"/>
                      <a:round/>
                      <a:headEnd type="none" w="sm" len="sm"/>
                      <a:tailEnd type="none" w="sm" len="sm"/>
                    </a:lnT>
                    <a:lnB w="19050" cap="flat" cmpd="sng">
                      <a:solidFill>
                        <a:schemeClr val="dk1"/>
                      </a:solidFill>
                      <a:prstDash val="lgDash"/>
                      <a:round/>
                      <a:headEnd type="none" w="sm" len="sm"/>
                      <a:tailEnd type="none" w="sm" len="sm"/>
                    </a:lnB>
                  </a:tcPr>
                </a:tc>
                <a:extLst>
                  <a:ext uri="{0D108BD9-81ED-4DB2-BD59-A6C34878D82A}">
                    <a16:rowId xmlns:a16="http://schemas.microsoft.com/office/drawing/2014/main" val="10001"/>
                  </a:ext>
                </a:extLst>
              </a:tr>
            </a:tbl>
          </a:graphicData>
        </a:graphic>
      </p:graphicFrame>
      <p:sp>
        <p:nvSpPr>
          <p:cNvPr id="275" name="Google Shape;275;p25"/>
          <p:cNvSpPr txBox="1"/>
          <p:nvPr/>
        </p:nvSpPr>
        <p:spPr>
          <a:xfrm rot="-5400000">
            <a:off x="-453550" y="2736488"/>
            <a:ext cx="15246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u="sng">
                <a:solidFill>
                  <a:schemeClr val="lt1"/>
                </a:solidFill>
                <a:latin typeface="Lato"/>
                <a:ea typeface="Lato"/>
                <a:cs typeface="Lato"/>
                <a:sym typeface="Lato"/>
              </a:rPr>
              <a:t>MARKETS</a:t>
            </a:r>
            <a:endParaRPr sz="1300" b="1" u="sng">
              <a:solidFill>
                <a:schemeClr val="lt1"/>
              </a:solidFill>
              <a:latin typeface="Lato"/>
              <a:ea typeface="Lato"/>
              <a:cs typeface="Lato"/>
              <a:sym typeface="Lato"/>
            </a:endParaRPr>
          </a:p>
        </p:txBody>
      </p:sp>
      <p:sp>
        <p:nvSpPr>
          <p:cNvPr id="276" name="Google Shape;276;p25"/>
          <p:cNvSpPr txBox="1"/>
          <p:nvPr/>
        </p:nvSpPr>
        <p:spPr>
          <a:xfrm rot="-2029">
            <a:off x="3816050" y="448943"/>
            <a:ext cx="15246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u="sng">
                <a:solidFill>
                  <a:schemeClr val="lt1"/>
                </a:solidFill>
                <a:latin typeface="Lato"/>
                <a:ea typeface="Lato"/>
                <a:cs typeface="Lato"/>
                <a:sym typeface="Lato"/>
              </a:rPr>
              <a:t>PRODUCTS</a:t>
            </a:r>
            <a:endParaRPr sz="1300" b="1" u="sng">
              <a:solidFill>
                <a:schemeClr val="lt1"/>
              </a:solidFill>
              <a:latin typeface="Lato"/>
              <a:ea typeface="Lato"/>
              <a:cs typeface="Lato"/>
              <a:sym typeface="Lato"/>
            </a:endParaRPr>
          </a:p>
        </p:txBody>
      </p:sp>
      <p:sp>
        <p:nvSpPr>
          <p:cNvPr id="277" name="Google Shape;277;p25"/>
          <p:cNvSpPr txBox="1"/>
          <p:nvPr/>
        </p:nvSpPr>
        <p:spPr>
          <a:xfrm>
            <a:off x="2069800" y="752350"/>
            <a:ext cx="12270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Lato"/>
                <a:ea typeface="Lato"/>
                <a:cs typeface="Lato"/>
                <a:sym typeface="Lato"/>
              </a:rPr>
              <a:t>EXISTING</a:t>
            </a:r>
            <a:endParaRPr sz="1300" b="1">
              <a:solidFill>
                <a:schemeClr val="lt1"/>
              </a:solidFill>
              <a:latin typeface="Lato"/>
              <a:ea typeface="Lato"/>
              <a:cs typeface="Lato"/>
              <a:sym typeface="Lato"/>
            </a:endParaRPr>
          </a:p>
        </p:txBody>
      </p:sp>
      <p:sp>
        <p:nvSpPr>
          <p:cNvPr id="278" name="Google Shape;278;p25"/>
          <p:cNvSpPr txBox="1"/>
          <p:nvPr/>
        </p:nvSpPr>
        <p:spPr>
          <a:xfrm>
            <a:off x="5803600" y="752350"/>
            <a:ext cx="12270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Lato"/>
                <a:ea typeface="Lato"/>
                <a:cs typeface="Lato"/>
                <a:sym typeface="Lato"/>
              </a:rPr>
              <a:t>NEW</a:t>
            </a:r>
            <a:endParaRPr sz="1300" b="1">
              <a:solidFill>
                <a:schemeClr val="lt1"/>
              </a:solidFill>
              <a:latin typeface="Lato"/>
              <a:ea typeface="Lato"/>
              <a:cs typeface="Lato"/>
              <a:sym typeface="Lato"/>
            </a:endParaRPr>
          </a:p>
        </p:txBody>
      </p:sp>
      <p:sp>
        <p:nvSpPr>
          <p:cNvPr id="279" name="Google Shape;279;p25"/>
          <p:cNvSpPr txBox="1"/>
          <p:nvPr/>
        </p:nvSpPr>
        <p:spPr>
          <a:xfrm rot="-5400000">
            <a:off x="164822" y="1742955"/>
            <a:ext cx="12270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Lato"/>
                <a:ea typeface="Lato"/>
                <a:cs typeface="Lato"/>
                <a:sym typeface="Lato"/>
              </a:rPr>
              <a:t>EXISTING</a:t>
            </a:r>
            <a:endParaRPr sz="1300" b="1">
              <a:solidFill>
                <a:schemeClr val="lt1"/>
              </a:solidFill>
              <a:latin typeface="Lato"/>
              <a:ea typeface="Lato"/>
              <a:cs typeface="Lato"/>
              <a:sym typeface="Lato"/>
            </a:endParaRPr>
          </a:p>
        </p:txBody>
      </p:sp>
      <p:sp>
        <p:nvSpPr>
          <p:cNvPr id="280" name="Google Shape;280;p25"/>
          <p:cNvSpPr txBox="1"/>
          <p:nvPr/>
        </p:nvSpPr>
        <p:spPr>
          <a:xfrm rot="-5400000">
            <a:off x="189550" y="3829725"/>
            <a:ext cx="12270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Lato"/>
                <a:ea typeface="Lato"/>
                <a:cs typeface="Lato"/>
                <a:sym typeface="Lato"/>
              </a:rPr>
              <a:t>NEW</a:t>
            </a:r>
            <a:endParaRPr sz="1300" b="1">
              <a:solidFill>
                <a:schemeClr val="lt1"/>
              </a:solidFill>
              <a:latin typeface="Lato"/>
              <a:ea typeface="Lato"/>
              <a:cs typeface="Lato"/>
              <a:sym typeface="Lato"/>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284"/>
        <p:cNvGrpSpPr/>
        <p:nvPr/>
      </p:nvGrpSpPr>
      <p:grpSpPr>
        <a:xfrm>
          <a:off x="0" y="0"/>
          <a:ext cx="0" cy="0"/>
          <a:chOff x="0" y="0"/>
          <a:chExt cx="0" cy="0"/>
        </a:xfrm>
      </p:grpSpPr>
      <p:sp>
        <p:nvSpPr>
          <p:cNvPr id="285" name="Google Shape;285;p26"/>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Strategic Plan</a:t>
            </a:r>
            <a:endParaRPr b="1"/>
          </a:p>
        </p:txBody>
      </p:sp>
      <p:sp>
        <p:nvSpPr>
          <p:cNvPr id="286" name="Google Shape;286;p2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850" b="1">
              <a:solidFill>
                <a:schemeClr val="dk1"/>
              </a:solidFill>
            </a:endParaRPr>
          </a:p>
          <a:p>
            <a:pPr marL="0" lvl="0" indent="0" algn="l" rtl="0">
              <a:spcBef>
                <a:spcPts val="0"/>
              </a:spcBef>
              <a:spcAft>
                <a:spcPts val="0"/>
              </a:spcAft>
              <a:buClr>
                <a:schemeClr val="dk1"/>
              </a:buClr>
              <a:buSzPts val="1100"/>
              <a:buFont typeface="Arial"/>
              <a:buNone/>
            </a:pPr>
            <a:endParaRPr sz="850" b="1">
              <a:solidFill>
                <a:schemeClr val="dk1"/>
              </a:solidFill>
            </a:endParaRPr>
          </a:p>
          <a:p>
            <a:pPr marL="0" lvl="0" indent="0" algn="l" rtl="0">
              <a:spcBef>
                <a:spcPts val="0"/>
              </a:spcBef>
              <a:spcAft>
                <a:spcPts val="0"/>
              </a:spcAft>
              <a:buClr>
                <a:schemeClr val="dk1"/>
              </a:buClr>
              <a:buSzPts val="1100"/>
              <a:buFont typeface="Arial"/>
              <a:buNone/>
            </a:pPr>
            <a:endParaRPr sz="850" b="1">
              <a:solidFill>
                <a:schemeClr val="dk1"/>
              </a:solidFill>
            </a:endParaRPr>
          </a:p>
        </p:txBody>
      </p:sp>
      <p:pic>
        <p:nvPicPr>
          <p:cNvPr id="287" name="Google Shape;287;p26"/>
          <p:cNvPicPr preferRelativeResize="0"/>
          <p:nvPr/>
        </p:nvPicPr>
        <p:blipFill>
          <a:blip r:embed="rId3">
            <a:alphaModFix/>
          </a:blip>
          <a:stretch>
            <a:fillRect/>
          </a:stretch>
        </p:blipFill>
        <p:spPr>
          <a:xfrm>
            <a:off x="152400" y="633500"/>
            <a:ext cx="8839198" cy="1099945"/>
          </a:xfrm>
          <a:prstGeom prst="rect">
            <a:avLst/>
          </a:prstGeom>
          <a:noFill/>
          <a:ln>
            <a:noFill/>
          </a:ln>
        </p:spPr>
      </p:pic>
      <p:sp>
        <p:nvSpPr>
          <p:cNvPr id="288" name="Google Shape;288;p26"/>
          <p:cNvSpPr txBox="1"/>
          <p:nvPr/>
        </p:nvSpPr>
        <p:spPr>
          <a:xfrm>
            <a:off x="219800" y="635500"/>
            <a:ext cx="28086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lt1"/>
                </a:solidFill>
              </a:rPr>
              <a:t>Ansoff Product vs. Market Matrix</a:t>
            </a:r>
            <a:endParaRPr sz="1800" b="1">
              <a:solidFill>
                <a:schemeClr val="lt1"/>
              </a:solidFill>
            </a:endParaRPr>
          </a:p>
        </p:txBody>
      </p:sp>
      <p:sp>
        <p:nvSpPr>
          <p:cNvPr id="289" name="Google Shape;289;p26"/>
          <p:cNvSpPr txBox="1"/>
          <p:nvPr/>
        </p:nvSpPr>
        <p:spPr>
          <a:xfrm>
            <a:off x="3183800" y="778625"/>
            <a:ext cx="2808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lt1"/>
                </a:solidFill>
              </a:rPr>
              <a:t>Porter’s 5 Forces</a:t>
            </a:r>
            <a:endParaRPr sz="1800" b="1">
              <a:solidFill>
                <a:schemeClr val="lt1"/>
              </a:solidFill>
            </a:endParaRPr>
          </a:p>
        </p:txBody>
      </p:sp>
      <p:sp>
        <p:nvSpPr>
          <p:cNvPr id="290" name="Google Shape;290;p26"/>
          <p:cNvSpPr txBox="1"/>
          <p:nvPr/>
        </p:nvSpPr>
        <p:spPr>
          <a:xfrm>
            <a:off x="6097525" y="787900"/>
            <a:ext cx="2808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lt1"/>
                </a:solidFill>
              </a:rPr>
              <a:t>BCG Growth Matrix</a:t>
            </a:r>
            <a:endParaRPr sz="1800" b="1">
              <a:solidFill>
                <a:schemeClr val="lt1"/>
              </a:solidFill>
            </a:endParaRPr>
          </a:p>
        </p:txBody>
      </p:sp>
      <p:sp>
        <p:nvSpPr>
          <p:cNvPr id="291" name="Google Shape;291;p26"/>
          <p:cNvSpPr txBox="1"/>
          <p:nvPr/>
        </p:nvSpPr>
        <p:spPr>
          <a:xfrm>
            <a:off x="-5850" y="4863125"/>
            <a:ext cx="8759700" cy="2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rPr>
              <a:t>Sources: Ansoff 1957, Porter [date] and BCG Growth Matrix [date]</a:t>
            </a:r>
            <a:endParaRPr sz="900">
              <a:solidFill>
                <a:schemeClr val="dk2"/>
              </a:solidFill>
            </a:endParaRPr>
          </a:p>
        </p:txBody>
      </p:sp>
      <p:sp>
        <p:nvSpPr>
          <p:cNvPr id="292" name="Google Shape;292;p26"/>
          <p:cNvSpPr txBox="1"/>
          <p:nvPr/>
        </p:nvSpPr>
        <p:spPr>
          <a:xfrm>
            <a:off x="232025" y="1892800"/>
            <a:ext cx="2808600" cy="24789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Char char="●"/>
            </a:pPr>
            <a:r>
              <a:rPr lang="en" sz="1500">
                <a:solidFill>
                  <a:schemeClr val="dk2"/>
                </a:solidFill>
              </a:rPr>
              <a:t>‘All in’ on new product development by iterating with Blackwell chips – continue this to remain 2 years ahead of rivals</a:t>
            </a:r>
            <a:endParaRPr sz="1500">
              <a:solidFill>
                <a:schemeClr val="dk2"/>
              </a:solidFill>
            </a:endParaRPr>
          </a:p>
          <a:p>
            <a:pPr marL="457200" lvl="0" indent="-323850" algn="l" rtl="0">
              <a:spcBef>
                <a:spcPts val="1000"/>
              </a:spcBef>
              <a:spcAft>
                <a:spcPts val="0"/>
              </a:spcAft>
              <a:buClr>
                <a:schemeClr val="dk2"/>
              </a:buClr>
              <a:buSzPts val="1500"/>
              <a:buChar char="●"/>
            </a:pPr>
            <a:r>
              <a:rPr lang="en" sz="1500">
                <a:solidFill>
                  <a:schemeClr val="dk2"/>
                </a:solidFill>
              </a:rPr>
              <a:t>Entering new markets with AI services, providing fully integrated customer solutions</a:t>
            </a:r>
            <a:endParaRPr sz="1500">
              <a:solidFill>
                <a:schemeClr val="dk2"/>
              </a:solidFill>
            </a:endParaRPr>
          </a:p>
        </p:txBody>
      </p:sp>
      <p:sp>
        <p:nvSpPr>
          <p:cNvPr id="293" name="Google Shape;293;p26"/>
          <p:cNvSpPr txBox="1"/>
          <p:nvPr/>
        </p:nvSpPr>
        <p:spPr>
          <a:xfrm>
            <a:off x="3164775" y="1892800"/>
            <a:ext cx="2808600" cy="24789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Char char="●"/>
            </a:pPr>
            <a:r>
              <a:rPr lang="en" sz="1500">
                <a:solidFill>
                  <a:schemeClr val="dk2"/>
                </a:solidFill>
              </a:rPr>
              <a:t>NVIDIA enjoys  an extraordinary AI moat on its GPUs so threatened by new entrants</a:t>
            </a:r>
            <a:endParaRPr sz="1500">
              <a:solidFill>
                <a:schemeClr val="dk2"/>
              </a:solidFill>
            </a:endParaRPr>
          </a:p>
          <a:p>
            <a:pPr marL="457200" lvl="0" indent="-323850" algn="l" rtl="0">
              <a:spcBef>
                <a:spcPts val="1000"/>
              </a:spcBef>
              <a:spcAft>
                <a:spcPts val="0"/>
              </a:spcAft>
              <a:buClr>
                <a:schemeClr val="dk2"/>
              </a:buClr>
              <a:buSzPts val="1500"/>
              <a:buChar char="●"/>
            </a:pPr>
            <a:r>
              <a:rPr lang="en" sz="1500">
                <a:solidFill>
                  <a:schemeClr val="dk2"/>
                </a:solidFill>
              </a:rPr>
              <a:t>Holds buying power over suppliers and selling power of customers</a:t>
            </a:r>
            <a:endParaRPr sz="1500">
              <a:solidFill>
                <a:schemeClr val="dk2"/>
              </a:solidFill>
            </a:endParaRPr>
          </a:p>
        </p:txBody>
      </p:sp>
      <p:sp>
        <p:nvSpPr>
          <p:cNvPr id="294" name="Google Shape;294;p26"/>
          <p:cNvSpPr txBox="1"/>
          <p:nvPr/>
        </p:nvSpPr>
        <p:spPr>
          <a:xfrm>
            <a:off x="6097525" y="1892800"/>
            <a:ext cx="2808600" cy="24789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Char char="●"/>
            </a:pPr>
            <a:r>
              <a:rPr lang="en" sz="1500">
                <a:solidFill>
                  <a:schemeClr val="dk2"/>
                </a:solidFill>
              </a:rPr>
              <a:t>GPU chips are a STARS product with hyper growth + high market share</a:t>
            </a:r>
            <a:endParaRPr sz="1500">
              <a:solidFill>
                <a:schemeClr val="dk2"/>
              </a:solidFill>
            </a:endParaRPr>
          </a:p>
          <a:p>
            <a:pPr marL="457200" lvl="0" indent="-323850" algn="l" rtl="0">
              <a:spcBef>
                <a:spcPts val="1000"/>
              </a:spcBef>
              <a:spcAft>
                <a:spcPts val="0"/>
              </a:spcAft>
              <a:buClr>
                <a:schemeClr val="dk2"/>
              </a:buClr>
              <a:buSzPts val="1500"/>
              <a:buChar char="●"/>
            </a:pPr>
            <a:r>
              <a:rPr lang="en" sz="1500">
                <a:solidFill>
                  <a:schemeClr val="dk2"/>
                </a:solidFill>
              </a:rPr>
              <a:t>Video chips are cash cow</a:t>
            </a:r>
            <a:endParaRPr sz="15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7"/>
          <p:cNvSpPr txBox="1">
            <a:spLocks noGrp="1"/>
          </p:cNvSpPr>
          <p:nvPr>
            <p:ph type="title"/>
          </p:nvPr>
        </p:nvSpPr>
        <p:spPr>
          <a:xfrm>
            <a:off x="-24775" y="60800"/>
            <a:ext cx="91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b="1"/>
              <a:t>Recommendation for NVDA:</a:t>
            </a:r>
            <a:r>
              <a:rPr lang="en" sz="2020" b="1"/>
              <a:t> </a:t>
            </a:r>
            <a:r>
              <a:rPr lang="en" sz="1720" b="1">
                <a:solidFill>
                  <a:schemeClr val="dk1"/>
                </a:solidFill>
              </a:rPr>
              <a:t>add new products to existing markets, like AI customer specialized solutions</a:t>
            </a:r>
            <a:r>
              <a:rPr lang="en" sz="1720">
                <a:solidFill>
                  <a:srgbClr val="3D85C6"/>
                </a:solidFill>
              </a:rPr>
              <a:t>,</a:t>
            </a:r>
            <a:r>
              <a:rPr lang="en" sz="1720"/>
              <a:t> </a:t>
            </a:r>
            <a:r>
              <a:rPr lang="en" sz="1720" b="1"/>
              <a:t>while iterating on Blackwell</a:t>
            </a:r>
            <a:endParaRPr sz="1720" b="1"/>
          </a:p>
        </p:txBody>
      </p:sp>
      <p:sp>
        <p:nvSpPr>
          <p:cNvPr id="300" name="Google Shape;300;p27"/>
          <p:cNvSpPr/>
          <p:nvPr/>
        </p:nvSpPr>
        <p:spPr>
          <a:xfrm>
            <a:off x="152400" y="1470075"/>
            <a:ext cx="8791200" cy="3488400"/>
          </a:xfrm>
          <a:prstGeom prst="rect">
            <a:avLst/>
          </a:prstGeom>
          <a:solidFill>
            <a:srgbClr val="D9EAD3"/>
          </a:solidFill>
          <a:ln w="9525" cap="flat" cmpd="sng">
            <a:solidFill>
              <a:schemeClr val="dk2"/>
            </a:solidFill>
            <a:prstDash val="solid"/>
            <a:round/>
            <a:headEnd type="none" w="sm" len="sm"/>
            <a:tailEnd type="none" w="sm" len="sm"/>
          </a:ln>
          <a:effectLst>
            <a:outerShdw blurRad="57150" dist="171450" dir="3600000" algn="bl" rotWithShape="0">
              <a:schemeClr val="dk1">
                <a:alpha val="62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27"/>
          <p:cNvSpPr/>
          <p:nvPr/>
        </p:nvSpPr>
        <p:spPr>
          <a:xfrm>
            <a:off x="152400" y="938250"/>
            <a:ext cx="2888100" cy="842100"/>
          </a:xfrm>
          <a:prstGeom prst="downArrowCallout">
            <a:avLst>
              <a:gd name="adj1" fmla="val 25000"/>
              <a:gd name="adj2" fmla="val 25000"/>
              <a:gd name="adj3" fmla="val 25000"/>
              <a:gd name="adj4" fmla="val 64977"/>
            </a:avLst>
          </a:prstGeom>
          <a:solidFill>
            <a:srgbClr val="76B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02;p27"/>
          <p:cNvSpPr/>
          <p:nvPr/>
        </p:nvSpPr>
        <p:spPr>
          <a:xfrm>
            <a:off x="3103175" y="938250"/>
            <a:ext cx="2888100" cy="842100"/>
          </a:xfrm>
          <a:prstGeom prst="downArrowCallout">
            <a:avLst>
              <a:gd name="adj1" fmla="val 25000"/>
              <a:gd name="adj2" fmla="val 25000"/>
              <a:gd name="adj3" fmla="val 25000"/>
              <a:gd name="adj4" fmla="val 64977"/>
            </a:avLst>
          </a:prstGeom>
          <a:gradFill>
            <a:gsLst>
              <a:gs pos="0">
                <a:srgbClr val="51AB2A"/>
              </a:gs>
              <a:gs pos="100000">
                <a:srgbClr val="203E13"/>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27"/>
          <p:cNvSpPr/>
          <p:nvPr/>
        </p:nvSpPr>
        <p:spPr>
          <a:xfrm>
            <a:off x="6053950" y="938250"/>
            <a:ext cx="2888100" cy="842100"/>
          </a:xfrm>
          <a:prstGeom prst="downArrowCallout">
            <a:avLst>
              <a:gd name="adj1" fmla="val 25000"/>
              <a:gd name="adj2" fmla="val 25000"/>
              <a:gd name="adj3" fmla="val 25000"/>
              <a:gd name="adj4" fmla="val 64977"/>
            </a:avLst>
          </a:prstGeom>
          <a:solidFill>
            <a:srgbClr val="274E1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27"/>
          <p:cNvSpPr txBox="1"/>
          <p:nvPr/>
        </p:nvSpPr>
        <p:spPr>
          <a:xfrm>
            <a:off x="219800" y="864100"/>
            <a:ext cx="28086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b="1">
                <a:solidFill>
                  <a:schemeClr val="lt1"/>
                </a:solidFill>
              </a:rPr>
              <a:t>Ansoff Product vs. </a:t>
            </a:r>
            <a:br>
              <a:rPr lang="en" sz="1500" b="1">
                <a:solidFill>
                  <a:schemeClr val="lt1"/>
                </a:solidFill>
              </a:rPr>
            </a:br>
            <a:r>
              <a:rPr lang="en" sz="1500" b="1">
                <a:solidFill>
                  <a:schemeClr val="lt1"/>
                </a:solidFill>
              </a:rPr>
              <a:t>Market Matrix</a:t>
            </a:r>
            <a:r>
              <a:rPr lang="en" sz="1500" b="1" baseline="30000">
                <a:solidFill>
                  <a:schemeClr val="lt1"/>
                </a:solidFill>
              </a:rPr>
              <a:t>1</a:t>
            </a:r>
            <a:endParaRPr sz="1500" b="1" baseline="30000">
              <a:solidFill>
                <a:schemeClr val="lt1"/>
              </a:solidFill>
            </a:endParaRPr>
          </a:p>
        </p:txBody>
      </p:sp>
      <p:sp>
        <p:nvSpPr>
          <p:cNvPr id="305" name="Google Shape;305;p27"/>
          <p:cNvSpPr txBox="1"/>
          <p:nvPr/>
        </p:nvSpPr>
        <p:spPr>
          <a:xfrm>
            <a:off x="3183800" y="1007225"/>
            <a:ext cx="28086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b="1">
                <a:solidFill>
                  <a:schemeClr val="lt1"/>
                </a:solidFill>
              </a:rPr>
              <a:t>Macro Backdrop</a:t>
            </a:r>
            <a:endParaRPr sz="1500" b="1">
              <a:solidFill>
                <a:schemeClr val="lt1"/>
              </a:solidFill>
            </a:endParaRPr>
          </a:p>
        </p:txBody>
      </p:sp>
      <p:sp>
        <p:nvSpPr>
          <p:cNvPr id="306" name="Google Shape;306;p27"/>
          <p:cNvSpPr txBox="1"/>
          <p:nvPr/>
        </p:nvSpPr>
        <p:spPr>
          <a:xfrm>
            <a:off x="6097525" y="864100"/>
            <a:ext cx="28086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b="1">
                <a:solidFill>
                  <a:schemeClr val="lt1"/>
                </a:solidFill>
              </a:rPr>
              <a:t>GDP Outlook:</a:t>
            </a:r>
            <a:br>
              <a:rPr lang="en" sz="1500" b="1">
                <a:solidFill>
                  <a:schemeClr val="lt1"/>
                </a:solidFill>
              </a:rPr>
            </a:br>
            <a:r>
              <a:rPr lang="en" sz="1500" b="1">
                <a:solidFill>
                  <a:schemeClr val="lt1"/>
                </a:solidFill>
              </a:rPr>
              <a:t>C+I+G+X</a:t>
            </a:r>
            <a:endParaRPr sz="1500" b="1">
              <a:solidFill>
                <a:schemeClr val="lt1"/>
              </a:solidFill>
            </a:endParaRPr>
          </a:p>
        </p:txBody>
      </p:sp>
      <p:sp>
        <p:nvSpPr>
          <p:cNvPr id="307" name="Google Shape;307;p27"/>
          <p:cNvSpPr txBox="1"/>
          <p:nvPr/>
        </p:nvSpPr>
        <p:spPr>
          <a:xfrm>
            <a:off x="232025" y="1664200"/>
            <a:ext cx="2808600" cy="24789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sz="1100">
                <a:solidFill>
                  <a:schemeClr val="dk1"/>
                </a:solidFill>
              </a:rPr>
              <a:t>‘All in’ on new product development by iterating with Blackwell chips – continue this to remain 2 years ahead of rivals </a:t>
            </a:r>
            <a:r>
              <a:rPr lang="en" sz="1100">
                <a:solidFill>
                  <a:srgbClr val="FF0000"/>
                </a:solidFill>
              </a:rPr>
              <a:t>(monopolistic competition)</a:t>
            </a:r>
            <a:endParaRPr sz="1100">
              <a:solidFill>
                <a:srgbClr val="FF0000"/>
              </a:solidFill>
            </a:endParaRPr>
          </a:p>
          <a:p>
            <a:pPr marL="457200" lvl="0" indent="-298450" algn="l" rtl="0">
              <a:spcBef>
                <a:spcPts val="1000"/>
              </a:spcBef>
              <a:spcAft>
                <a:spcPts val="0"/>
              </a:spcAft>
              <a:buClr>
                <a:schemeClr val="dk1"/>
              </a:buClr>
              <a:buSzPts val="1100"/>
              <a:buChar char="●"/>
            </a:pPr>
            <a:r>
              <a:rPr lang="en" sz="1100">
                <a:solidFill>
                  <a:schemeClr val="dk1"/>
                </a:solidFill>
              </a:rPr>
              <a:t>Entering new markets with AI services, providing fully integrated customer solutions</a:t>
            </a:r>
            <a:endParaRPr sz="1100">
              <a:solidFill>
                <a:schemeClr val="dk1"/>
              </a:solidFill>
            </a:endParaRPr>
          </a:p>
        </p:txBody>
      </p:sp>
      <p:sp>
        <p:nvSpPr>
          <p:cNvPr id="308" name="Google Shape;308;p27"/>
          <p:cNvSpPr txBox="1"/>
          <p:nvPr/>
        </p:nvSpPr>
        <p:spPr>
          <a:xfrm>
            <a:off x="3164775" y="1664200"/>
            <a:ext cx="2808600" cy="24789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sz="1100">
                <a:solidFill>
                  <a:schemeClr val="dk1"/>
                </a:solidFill>
              </a:rPr>
              <a:t>No impending recession &amp; technological innovation moat creates unique circumstances</a:t>
            </a:r>
            <a:endParaRPr sz="1100">
              <a:solidFill>
                <a:schemeClr val="dk1"/>
              </a:solidFill>
            </a:endParaRPr>
          </a:p>
          <a:p>
            <a:pPr marL="457200" lvl="0" indent="-298450" algn="l" rtl="0">
              <a:spcBef>
                <a:spcPts val="1000"/>
              </a:spcBef>
              <a:spcAft>
                <a:spcPts val="0"/>
              </a:spcAft>
              <a:buClr>
                <a:schemeClr val="dk1"/>
              </a:buClr>
              <a:buSzPts val="1100"/>
              <a:buChar char="●"/>
            </a:pPr>
            <a:r>
              <a:rPr lang="en" sz="1100">
                <a:solidFill>
                  <a:schemeClr val="dk1"/>
                </a:solidFill>
              </a:rPr>
              <a:t>Unemployment remains low at 4.1%</a:t>
            </a:r>
            <a:r>
              <a:rPr lang="en" sz="1100" baseline="30000">
                <a:solidFill>
                  <a:schemeClr val="dk1"/>
                </a:solidFill>
              </a:rPr>
              <a:t>2</a:t>
            </a:r>
            <a:endParaRPr sz="1100" baseline="30000">
              <a:solidFill>
                <a:schemeClr val="dk1"/>
              </a:solidFill>
            </a:endParaRPr>
          </a:p>
          <a:p>
            <a:pPr marL="457200" lvl="0" indent="-298450" algn="l" rtl="0">
              <a:spcBef>
                <a:spcPts val="1000"/>
              </a:spcBef>
              <a:spcAft>
                <a:spcPts val="0"/>
              </a:spcAft>
              <a:buClr>
                <a:schemeClr val="dk1"/>
              </a:buClr>
              <a:buSzPts val="1100"/>
              <a:buChar char="●"/>
            </a:pPr>
            <a:r>
              <a:rPr lang="en" sz="1100">
                <a:solidFill>
                  <a:schemeClr val="dk1"/>
                </a:solidFill>
              </a:rPr>
              <a:t>US GDP 3Q ‘24 equals $29.35tn</a:t>
            </a:r>
            <a:r>
              <a:rPr lang="en" sz="1100" baseline="30000">
                <a:solidFill>
                  <a:schemeClr val="dk1"/>
                </a:solidFill>
              </a:rPr>
              <a:t>3</a:t>
            </a:r>
            <a:r>
              <a:rPr lang="en" sz="1100">
                <a:solidFill>
                  <a:schemeClr val="dk1"/>
                </a:solidFill>
              </a:rPr>
              <a:t>, which represents a 2.8% growth rate from 2Q ‘24, remaining stable and strong</a:t>
            </a:r>
            <a:endParaRPr sz="1100">
              <a:solidFill>
                <a:schemeClr val="dk1"/>
              </a:solidFill>
            </a:endParaRPr>
          </a:p>
        </p:txBody>
      </p:sp>
      <p:sp>
        <p:nvSpPr>
          <p:cNvPr id="309" name="Google Shape;309;p27"/>
          <p:cNvSpPr txBox="1"/>
          <p:nvPr/>
        </p:nvSpPr>
        <p:spPr>
          <a:xfrm>
            <a:off x="6097525" y="1664200"/>
            <a:ext cx="2808600" cy="24789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sz="1100" b="1">
                <a:solidFill>
                  <a:schemeClr val="dk1"/>
                </a:solidFill>
              </a:rPr>
              <a:t>Consumer spending:</a:t>
            </a:r>
            <a:r>
              <a:rPr lang="en" sz="1100">
                <a:solidFill>
                  <a:schemeClr val="dk1"/>
                </a:solidFill>
              </a:rPr>
              <a:t> outlook is stable and positive with unemployment steady</a:t>
            </a:r>
            <a:endParaRPr sz="1100">
              <a:solidFill>
                <a:schemeClr val="dk1"/>
              </a:solidFill>
            </a:endParaRPr>
          </a:p>
          <a:p>
            <a:pPr marL="457200" lvl="0" indent="-298450" algn="l" rtl="0">
              <a:spcBef>
                <a:spcPts val="1000"/>
              </a:spcBef>
              <a:spcAft>
                <a:spcPts val="0"/>
              </a:spcAft>
              <a:buClr>
                <a:schemeClr val="dk1"/>
              </a:buClr>
              <a:buSzPts val="1100"/>
              <a:buChar char="●"/>
            </a:pPr>
            <a:r>
              <a:rPr lang="en" sz="1100" b="1">
                <a:solidFill>
                  <a:schemeClr val="dk1"/>
                </a:solidFill>
              </a:rPr>
              <a:t>Private spending:</a:t>
            </a:r>
            <a:r>
              <a:rPr lang="en" sz="1100">
                <a:solidFill>
                  <a:schemeClr val="dk1"/>
                </a:solidFill>
              </a:rPr>
              <a:t> outlook remains positive and steady</a:t>
            </a:r>
            <a:endParaRPr sz="1100">
              <a:solidFill>
                <a:schemeClr val="dk1"/>
              </a:solidFill>
            </a:endParaRPr>
          </a:p>
          <a:p>
            <a:pPr marL="800100" lvl="1" indent="-298450" algn="l" rtl="0">
              <a:spcBef>
                <a:spcPts val="0"/>
              </a:spcBef>
              <a:spcAft>
                <a:spcPts val="0"/>
              </a:spcAft>
              <a:buClr>
                <a:schemeClr val="dk1"/>
              </a:buClr>
              <a:buSzPts val="1100"/>
              <a:buChar char="○"/>
            </a:pPr>
            <a:r>
              <a:rPr lang="en" sz="1100">
                <a:solidFill>
                  <a:schemeClr val="dk1"/>
                </a:solidFill>
              </a:rPr>
              <a:t>Hyperscalers maintain capex on AI chips for data centers with FOMO moat</a:t>
            </a:r>
            <a:endParaRPr sz="1100">
              <a:solidFill>
                <a:schemeClr val="dk1"/>
              </a:solidFill>
            </a:endParaRPr>
          </a:p>
          <a:p>
            <a:pPr marL="800100" lvl="1" indent="-298450" algn="l" rtl="0">
              <a:spcBef>
                <a:spcPts val="0"/>
              </a:spcBef>
              <a:spcAft>
                <a:spcPts val="0"/>
              </a:spcAft>
              <a:buClr>
                <a:schemeClr val="dk1"/>
              </a:buClr>
              <a:buSzPts val="1100"/>
              <a:buChar char="○"/>
            </a:pPr>
            <a:r>
              <a:rPr lang="en" sz="1100">
                <a:solidFill>
                  <a:schemeClr val="dk1"/>
                </a:solidFill>
              </a:rPr>
              <a:t>New customer opportunities with autonomous vehicles</a:t>
            </a:r>
            <a:endParaRPr sz="1100">
              <a:solidFill>
                <a:schemeClr val="dk1"/>
              </a:solidFill>
            </a:endParaRPr>
          </a:p>
          <a:p>
            <a:pPr marL="457200" lvl="0" indent="-298450" algn="l" rtl="0">
              <a:spcBef>
                <a:spcPts val="1000"/>
              </a:spcBef>
              <a:spcAft>
                <a:spcPts val="0"/>
              </a:spcAft>
              <a:buClr>
                <a:schemeClr val="dk1"/>
              </a:buClr>
              <a:buSzPts val="1100"/>
              <a:buChar char="●"/>
            </a:pPr>
            <a:r>
              <a:rPr lang="en" sz="1100" b="1">
                <a:solidFill>
                  <a:schemeClr val="dk1"/>
                </a:solidFill>
              </a:rPr>
              <a:t>Government spending:</a:t>
            </a:r>
            <a:r>
              <a:rPr lang="en" sz="1100">
                <a:solidFill>
                  <a:schemeClr val="dk1"/>
                </a:solidFill>
              </a:rPr>
              <a:t> </a:t>
            </a:r>
            <a:endParaRPr sz="1100">
              <a:solidFill>
                <a:schemeClr val="dk1"/>
              </a:solidFill>
            </a:endParaRPr>
          </a:p>
          <a:p>
            <a:pPr marL="800100" lvl="1" indent="-298450" algn="l" rtl="0">
              <a:spcBef>
                <a:spcPts val="0"/>
              </a:spcBef>
              <a:spcAft>
                <a:spcPts val="0"/>
              </a:spcAft>
              <a:buClr>
                <a:schemeClr val="dk1"/>
              </a:buClr>
              <a:buSzPts val="1100"/>
              <a:buChar char="○"/>
            </a:pPr>
            <a:r>
              <a:rPr lang="en" sz="1100">
                <a:solidFill>
                  <a:schemeClr val="dk1"/>
                </a:solidFill>
              </a:rPr>
              <a:t>US Chips Act creates a more secure environment for NVDA, minimizing supply chain disruptions</a:t>
            </a:r>
            <a:endParaRPr sz="1100">
              <a:solidFill>
                <a:schemeClr val="dk1"/>
              </a:solidFill>
            </a:endParaRPr>
          </a:p>
          <a:p>
            <a:pPr marL="457200" lvl="0" indent="-298450" algn="l" rtl="0">
              <a:spcBef>
                <a:spcPts val="0"/>
              </a:spcBef>
              <a:spcAft>
                <a:spcPts val="1000"/>
              </a:spcAft>
              <a:buClr>
                <a:schemeClr val="dk1"/>
              </a:buClr>
              <a:buSzPts val="1100"/>
              <a:buChar char="●"/>
            </a:pPr>
            <a:r>
              <a:rPr lang="en" sz="1100" b="1">
                <a:solidFill>
                  <a:schemeClr val="dk1"/>
                </a:solidFill>
              </a:rPr>
              <a:t>Net Exports:</a:t>
            </a:r>
            <a:r>
              <a:rPr lang="en" sz="1100">
                <a:solidFill>
                  <a:schemeClr val="dk1"/>
                </a:solidFill>
              </a:rPr>
              <a:t> National security priority to limit exports</a:t>
            </a:r>
            <a:endParaRPr sz="1100">
              <a:solidFill>
                <a:schemeClr val="dk1"/>
              </a:solidFill>
            </a:endParaRPr>
          </a:p>
        </p:txBody>
      </p:sp>
      <p:sp>
        <p:nvSpPr>
          <p:cNvPr id="310" name="Google Shape;310;p27"/>
          <p:cNvSpPr txBox="1"/>
          <p:nvPr/>
        </p:nvSpPr>
        <p:spPr>
          <a:xfrm>
            <a:off x="232025" y="4180050"/>
            <a:ext cx="6054000" cy="2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Notes:</a:t>
            </a:r>
            <a:endParaRPr sz="900">
              <a:solidFill>
                <a:schemeClr val="dk1"/>
              </a:solidFill>
            </a:endParaRPr>
          </a:p>
          <a:p>
            <a:pPr marL="0" lvl="0" indent="0" algn="l" rtl="0">
              <a:spcBef>
                <a:spcPts val="0"/>
              </a:spcBef>
              <a:spcAft>
                <a:spcPts val="0"/>
              </a:spcAft>
              <a:buNone/>
            </a:pPr>
            <a:r>
              <a:rPr lang="en" sz="900">
                <a:solidFill>
                  <a:schemeClr val="dk1"/>
                </a:solidFill>
              </a:rPr>
              <a:t>1 Ansoff, 1957</a:t>
            </a:r>
            <a:endParaRPr sz="900">
              <a:solidFill>
                <a:schemeClr val="dk1"/>
              </a:solidFill>
            </a:endParaRPr>
          </a:p>
          <a:p>
            <a:pPr marL="0" lvl="0" indent="0" algn="l" rtl="0">
              <a:spcBef>
                <a:spcPts val="0"/>
              </a:spcBef>
              <a:spcAft>
                <a:spcPts val="0"/>
              </a:spcAft>
              <a:buNone/>
            </a:pPr>
            <a:r>
              <a:rPr lang="en" sz="900">
                <a:solidFill>
                  <a:schemeClr val="dk1"/>
                </a:solidFill>
              </a:rPr>
              <a:t>2 BLS as of October 2024</a:t>
            </a:r>
            <a:endParaRPr sz="900">
              <a:solidFill>
                <a:schemeClr val="dk1"/>
              </a:solidFill>
            </a:endParaRPr>
          </a:p>
          <a:p>
            <a:pPr marL="0" lvl="0" indent="0" algn="l" rtl="0">
              <a:spcBef>
                <a:spcPts val="0"/>
              </a:spcBef>
              <a:spcAft>
                <a:spcPts val="0"/>
              </a:spcAft>
              <a:buNone/>
            </a:pPr>
            <a:r>
              <a:rPr lang="en" sz="900">
                <a:solidFill>
                  <a:schemeClr val="dk1"/>
                </a:solidFill>
              </a:rPr>
              <a:t>3 bea.gov as of October 2024</a:t>
            </a:r>
            <a:endParaRPr sz="900">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C1308-FC94-DA29-F4AF-24958E3D43EE}"/>
              </a:ext>
            </a:extLst>
          </p:cNvPr>
          <p:cNvSpPr>
            <a:spLocks noGrp="1"/>
          </p:cNvSpPr>
          <p:nvPr>
            <p:ph type="title"/>
          </p:nvPr>
        </p:nvSpPr>
        <p:spPr>
          <a:xfrm>
            <a:off x="1241353" y="1757329"/>
            <a:ext cx="7038900" cy="914100"/>
          </a:xfrm>
        </p:spPr>
        <p:txBody>
          <a:bodyPr>
            <a:noAutofit/>
          </a:bodyPr>
          <a:lstStyle/>
          <a:p>
            <a:pPr algn="ctr"/>
            <a:r>
              <a:rPr lang="en-US" sz="7200" b="1" dirty="0"/>
              <a:t>THANK YOU</a:t>
            </a:r>
          </a:p>
        </p:txBody>
      </p:sp>
    </p:spTree>
    <p:extLst>
      <p:ext uri="{BB962C8B-B14F-4D97-AF65-F5344CB8AC3E}">
        <p14:creationId xmlns:p14="http://schemas.microsoft.com/office/powerpoint/2010/main" val="1010333098"/>
      </p:ext>
    </p:extLst>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4047</Words>
  <Application>Microsoft Macintosh PowerPoint</Application>
  <PresentationFormat>On-screen Show (16:9)</PresentationFormat>
  <Paragraphs>249</Paragraphs>
  <Slides>16</Slides>
  <Notes>15</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Lato</vt:lpstr>
      <vt:lpstr>Montserrat</vt:lpstr>
      <vt:lpstr>Arial</vt:lpstr>
      <vt:lpstr>Roboto Thin</vt:lpstr>
      <vt:lpstr>Roboto</vt:lpstr>
      <vt:lpstr>Times New Roman</vt:lpstr>
      <vt:lpstr>Focus</vt:lpstr>
      <vt:lpstr>PowerPoint Presentation</vt:lpstr>
      <vt:lpstr>Company Background</vt:lpstr>
      <vt:lpstr>Company Background</vt:lpstr>
      <vt:lpstr>Marketing Strategy/Advertising: 4 Ps Analysis</vt:lpstr>
      <vt:lpstr>Marketing Strategy/Advertising</vt:lpstr>
      <vt:lpstr>PowerPoint Presentation</vt:lpstr>
      <vt:lpstr>Financial Analysis: NVDA Income Statement &amp; Balance Sheet </vt:lpstr>
      <vt:lpstr>Financial Analysis: NVDA 3Y Comparative Stock Chart   </vt:lpstr>
      <vt:lpstr>Financial Analysis: NVDA 5Y Comparative Stock Chart   </vt:lpstr>
      <vt:lpstr>Financial Analysis: NVDA 10Y Comparative Stock Chart   </vt:lpstr>
      <vt:lpstr>Financial Analysis</vt:lpstr>
      <vt:lpstr>Strategic Plan</vt:lpstr>
      <vt:lpstr>Strategic Plan</vt:lpstr>
      <vt:lpstr>Strategic Plan</vt:lpstr>
      <vt:lpstr>Recommendation for NVDA: add new products to existing markets, like AI customer specialized solutions, while iterating on Blackwell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1</cp:revision>
  <dcterms:modified xsi:type="dcterms:W3CDTF">2026-02-26T05:57:56Z</dcterms:modified>
</cp:coreProperties>
</file>